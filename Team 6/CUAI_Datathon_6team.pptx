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3" r:id="rId3"/>
    <p:sldId id="293" r:id="rId4"/>
    <p:sldId id="287" r:id="rId5"/>
    <p:sldId id="288" r:id="rId6"/>
    <p:sldId id="289" r:id="rId7"/>
    <p:sldId id="290" r:id="rId8"/>
    <p:sldId id="291" r:id="rId9"/>
    <p:sldId id="292" r:id="rId10"/>
    <p:sldId id="277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BBF93-721C-0B93-F542-F4848FB7194F}" v="8" dt="2026-03-29T12:14:02.055"/>
    <p1510:client id="{42776C5C-90F5-5C6C-2C67-0A28682D6E59}" v="2745" dt="2026-03-29T12:05:10.048"/>
    <p1510:client id="{513ADF41-C081-3BD9-218E-F382AE5BC52A}" v="64" dt="2026-03-29T11:27:48.1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70"/>
    <p:restoredTop sz="94633"/>
  </p:normalViewPr>
  <p:slideViewPr>
    <p:cSldViewPr snapToGrid="0">
      <p:cViewPr varScale="1">
        <p:scale>
          <a:sx n="196" d="100"/>
          <a:sy n="196" d="100"/>
        </p:scale>
        <p:origin x="76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C6366989-C1B1-935C-F455-85126C91D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71D91B9C-1151-9A2C-1BE7-C39C94DC5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35753A15-2441-1250-BAA3-F501356FA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3367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0DDE0AC0-0E2F-C4AD-4096-284C0D15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FFC5E868-0683-D913-7882-2DB6FB23C8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B3DB2DC8-A56F-63C6-3AEC-E4DB2255B9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9783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C2EDBD03-83B5-1756-43C7-E432412E7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077F25D-94DA-AC3E-5470-F7E1B716B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5D6BFC7A-24F1-27AB-5C72-C60824A158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291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E0E704C-CD42-5D7F-CF30-17E6ED5F6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79E629C4-2B72-2709-4185-DE95038D22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D9CC49B0-5F59-E2EA-79EF-A9268943E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7964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988C018B-69EA-0463-0ED7-B7879CA3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7B2D519-20A6-5315-15B0-46E5C22137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9E3BF0E9-ABD4-209D-552F-10CEDE3586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942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69933C6-66DE-D16E-E4C2-A30A9A13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9E8F0895-56FD-84A1-3C36-45567F75D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E1BD341B-1573-816C-5702-6C21287AC8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4986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17A91D8A-DC28-1D71-F9A7-0A0EB406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EEB496F7-817F-CB5E-C7BF-4CC0E3A6A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58732CF0-A575-351C-64DE-4DBF122F71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42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6B440F4-61B9-FF09-5E1E-6892EF7E3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444BB47-FA84-85C7-394C-79B2D94B2D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B904399A-34EF-7656-9729-9C8288AE82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9826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CBDEB0A-C772-348F-AF81-0DA5E0E0A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3B23B72-F599-505C-FC29-4F86ECBBF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51E07B03-2FC8-03AD-7677-06BA6AB23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957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49275" y="2995800"/>
            <a:ext cx="6846988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ko-KR" altLang="en-US" sz="2500" b="1" dirty="0" err="1">
                <a:solidFill>
                  <a:srgbClr val="19264B"/>
                </a:solidFill>
              </a:rPr>
              <a:t>Datathon</a:t>
            </a:r>
            <a:r>
              <a:rPr lang="ko-KR" altLang="en-US" sz="2500" b="1" dirty="0">
                <a:solidFill>
                  <a:srgbClr val="19264B"/>
                </a:solidFill>
              </a:rPr>
              <a:t> 6 </a:t>
            </a:r>
            <a:r>
              <a:rPr lang="ko-KR" altLang="en-US" sz="2500" b="1" dirty="0" err="1">
                <a:solidFill>
                  <a:srgbClr val="19264B"/>
                </a:solidFill>
              </a:rPr>
              <a:t>team</a:t>
            </a:r>
            <a:endParaRPr lang="ko-KR" altLang="en-US"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rgbClr val="19264B"/>
                </a:solidFill>
              </a:rPr>
              <a:t>2026.03.31.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dirty="0">
                <a:solidFill>
                  <a:srgbClr val="19264B"/>
                </a:solidFill>
              </a:rPr>
              <a:t>발표자: </a:t>
            </a:r>
            <a:r>
              <a:rPr lang="ko-KR" altLang="en-US" sz="1100" b="1" dirty="0">
                <a:solidFill>
                  <a:srgbClr val="19264B"/>
                </a:solidFill>
              </a:rPr>
              <a:t>소프트웨어학부 </a:t>
            </a:r>
            <a:r>
              <a:rPr lang="ko" sz="1100" b="1" dirty="0">
                <a:solidFill>
                  <a:srgbClr val="19264B"/>
                </a:solidFill>
              </a:rPr>
              <a:t>김승범</a:t>
            </a:r>
            <a:endParaRPr lang="ko" altLang="en-US" sz="11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76BEF8C-D759-E3DE-0AE3-AB2FB591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E032CB37-8451-340D-50B8-B33271099F2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A179CEA1-4004-0989-FB6E-2F839D3981B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C917929B-2CFF-ADB7-8102-6E57F749C4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22A41209-F489-C87B-640E-4776F067C752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Team 6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E21C57-AD20-0792-BB5E-8E35F38FDD61}"/>
              </a:ext>
            </a:extLst>
          </p:cNvPr>
          <p:cNvSpPr txBox="1"/>
          <p:nvPr/>
        </p:nvSpPr>
        <p:spPr>
          <a:xfrm>
            <a:off x="1473579" y="976284"/>
            <a:ext cx="4572000" cy="1600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dirty="0"/>
              <a:t>소프트웨어학부 김현수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소프트웨어학부 김승범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첨단소재공학부 박상현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첨단소재공학부 남동훈</a:t>
            </a:r>
          </a:p>
        </p:txBody>
      </p:sp>
    </p:spTree>
    <p:extLst>
      <p:ext uri="{BB962C8B-B14F-4D97-AF65-F5344CB8AC3E}">
        <p14:creationId xmlns:p14="http://schemas.microsoft.com/office/powerpoint/2010/main" val="1341145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487B6E63-EE10-D51B-3B20-078E0AAD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EC0C6FE-DD48-F220-9D8C-6EB8F57E178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811BBC16-096D-5561-E070-DC10F4D59AB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950B75EA-B038-7D5D-E9F5-E5C66ACDF9B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23B6933E-EADA-D9C6-0D8D-29ED53CF777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Overview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074B5-1E70-9712-969B-DCAC445C3416}"/>
              </a:ext>
            </a:extLst>
          </p:cNvPr>
          <p:cNvSpPr txBox="1"/>
          <p:nvPr/>
        </p:nvSpPr>
        <p:spPr>
          <a:xfrm>
            <a:off x="1473579" y="976284"/>
            <a:ext cx="4572000" cy="1600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en-US" dirty="0"/>
              <a:t>비정상 계좌 개설 요청을 탐지하기 위한 모델 구성</a:t>
            </a:r>
          </a:p>
          <a:p>
            <a:pPr marL="285750" indent="-285750">
              <a:buFont typeface="Calibri"/>
              <a:buChar char="-"/>
            </a:pPr>
            <a:r>
              <a:rPr lang="ko-KR" altLang="en-US" dirty="0" err="1"/>
              <a:t>Multi</a:t>
            </a:r>
            <a:r>
              <a:rPr lang="ko-KR" altLang="en-US" dirty="0"/>
              <a:t> </a:t>
            </a:r>
            <a:r>
              <a:rPr lang="ko-KR" altLang="en-US" dirty="0" err="1"/>
              <a:t>validation</a:t>
            </a:r>
            <a:r>
              <a:rPr lang="ko-KR" altLang="en-US" dirty="0"/>
              <a:t> </a:t>
            </a:r>
            <a:r>
              <a:rPr lang="ko-KR" altLang="en-US" dirty="0" err="1"/>
              <a:t>strategy</a:t>
            </a:r>
            <a:r>
              <a:rPr lang="ko-KR" altLang="en-US" dirty="0"/>
              <a:t> &amp; Power </a:t>
            </a:r>
            <a:r>
              <a:rPr lang="ko-KR" altLang="en-US" dirty="0" err="1"/>
              <a:t>Mean</a:t>
            </a:r>
            <a:r>
              <a:rPr lang="ko-KR" altLang="en-US" dirty="0"/>
              <a:t> </a:t>
            </a:r>
            <a:r>
              <a:rPr lang="ko-KR" altLang="en-US" dirty="0" err="1"/>
              <a:t>ensemble</a:t>
            </a:r>
            <a:endParaRPr lang="en-US" altLang="ko-KR" dirty="0"/>
          </a:p>
          <a:p>
            <a:pPr marL="285750" indent="-285750">
              <a:buFont typeface="Calibri"/>
              <a:buChar char="-"/>
            </a:pPr>
            <a:endParaRPr lang="ko-KR" altLang="en-US" dirty="0"/>
          </a:p>
          <a:p>
            <a:pPr marL="285750" indent="-285750">
              <a:buFont typeface="Calibri"/>
              <a:buChar char="-"/>
            </a:pPr>
            <a:r>
              <a:rPr lang="ko-KR" altLang="en-US" dirty="0" err="1"/>
              <a:t>Keyword</a:t>
            </a:r>
            <a:endParaRPr lang="ko-KR" altLang="en-US" dirty="0"/>
          </a:p>
          <a:p>
            <a:pPr marL="742950" lvl="1" indent="-285750">
              <a:buFont typeface="Courier New"/>
              <a:buChar char="o"/>
            </a:pPr>
            <a:r>
              <a:rPr lang="ko-KR" altLang="en-US" dirty="0" err="1"/>
              <a:t>Feature</a:t>
            </a:r>
            <a:r>
              <a:rPr lang="ko-KR" altLang="en-US" dirty="0"/>
              <a:t> Engineering</a:t>
            </a:r>
          </a:p>
          <a:p>
            <a:pPr marL="742950" lvl="1" indent="-285750">
              <a:buFont typeface="Courier New"/>
              <a:buChar char="o"/>
            </a:pPr>
            <a:r>
              <a:rPr lang="ko-KR" altLang="en-US" dirty="0"/>
              <a:t>K-</a:t>
            </a:r>
            <a:r>
              <a:rPr lang="ko-KR" altLang="en-US" dirty="0" err="1"/>
              <a:t>Fold</a:t>
            </a:r>
            <a:r>
              <a:rPr lang="ko-KR" altLang="en-US" dirty="0"/>
              <a:t> &amp; OOT </a:t>
            </a:r>
            <a:r>
              <a:rPr lang="ko-KR" altLang="en-US" dirty="0" err="1"/>
              <a:t>Validation</a:t>
            </a:r>
            <a:endParaRPr lang="ko-KR" altLang="en-US" dirty="0"/>
          </a:p>
          <a:p>
            <a:pPr marL="742950" lvl="1" indent="-285750">
              <a:buFont typeface="Courier New"/>
              <a:buChar char="o"/>
            </a:pPr>
            <a:r>
              <a:rPr lang="ko-KR" altLang="en-US" dirty="0"/>
              <a:t>Power </a:t>
            </a:r>
            <a:r>
              <a:rPr lang="ko-KR" altLang="en-US" dirty="0" err="1"/>
              <a:t>Mean</a:t>
            </a:r>
            <a:r>
              <a:rPr lang="ko-KR" altLang="en-US" dirty="0"/>
              <a:t> </a:t>
            </a:r>
            <a:r>
              <a:rPr lang="ko-KR" altLang="en-US" dirty="0" err="1"/>
              <a:t>Ensemble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247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785F4F8B-7D27-2C5B-72A5-2D92C205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9CCD6606-E07E-5182-11D5-C2587DF3CD3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A9808945-75DB-74F7-E84A-25A7F7E6383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27BD4215-7C31-B6BC-BC8F-F6B3CAE4CA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BA723BE7-12C6-761D-B679-B76F20BAB72E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n-US" sz="2000" b="1">
                <a:solidFill>
                  <a:srgbClr val="19264B"/>
                </a:solidFill>
                <a:latin typeface="NanumGothic ExtraBold"/>
                <a:sym typeface="NanumGothic ExtraBold"/>
              </a:rPr>
              <a:t>Problem &amp; Metric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390FE-90A6-95DF-144D-EFA2438F916D}"/>
              </a:ext>
            </a:extLst>
          </p:cNvPr>
          <p:cNvSpPr txBox="1"/>
          <p:nvPr/>
        </p:nvSpPr>
        <p:spPr>
          <a:xfrm>
            <a:off x="1473578" y="976284"/>
            <a:ext cx="5277417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ko-KR" altLang="en-US" dirty="0"/>
              <a:t>극심한 </a:t>
            </a:r>
            <a:r>
              <a:rPr lang="ko-KR" altLang="en-US" dirty="0" err="1"/>
              <a:t>class</a:t>
            </a:r>
            <a:r>
              <a:rPr lang="ko-KR" altLang="en-US" dirty="0"/>
              <a:t> 불균형 해결을 문제 해결</a:t>
            </a:r>
            <a:endParaRPr lang="en-US" altLang="ko-KR" dirty="0"/>
          </a:p>
          <a:p>
            <a:pPr marL="285750" indent="-285750">
              <a:buFont typeface="Calibri"/>
              <a:buChar char="-"/>
            </a:pPr>
            <a:endParaRPr lang="ko-KR" altLang="en-US" dirty="0"/>
          </a:p>
          <a:p>
            <a:pPr marL="285750" indent="-285750">
              <a:buFont typeface="Calibri"/>
              <a:buChar char="-"/>
            </a:pPr>
            <a:r>
              <a:rPr lang="ko-KR" altLang="en-US" dirty="0"/>
              <a:t>수많은 정상 거래 속 극 소수의 </a:t>
            </a:r>
            <a:r>
              <a:rPr lang="ko-KR" altLang="en-US" dirty="0" err="1"/>
              <a:t>fraud_bool</a:t>
            </a:r>
            <a:r>
              <a:rPr lang="ko-KR" altLang="en-US" dirty="0"/>
              <a:t> </a:t>
            </a:r>
            <a:r>
              <a:rPr lang="ko-KR" altLang="en-US" dirty="0" err="1"/>
              <a:t>detection</a:t>
            </a:r>
            <a:endParaRPr lang="en-US" altLang="ko-KR" dirty="0"/>
          </a:p>
          <a:p>
            <a:pPr marL="285750" indent="-285750">
              <a:buFont typeface="Calibri"/>
              <a:buChar char="-"/>
            </a:pPr>
            <a:endParaRPr lang="ko-KR" altLang="en-US" dirty="0"/>
          </a:p>
          <a:p>
            <a:pPr marL="285750" indent="-285750">
              <a:buFont typeface="Calibri"/>
              <a:buChar char="-"/>
            </a:pPr>
            <a:r>
              <a:rPr lang="ko-KR" altLang="en-US" b="1" dirty="0" err="1"/>
              <a:t>Metric</a:t>
            </a:r>
            <a:endParaRPr lang="ko-KR" altLang="en-US" b="1" dirty="0"/>
          </a:p>
          <a:p>
            <a:pPr marL="742950" lvl="1" indent="-285750">
              <a:buFont typeface="Courier New"/>
              <a:buChar char="o"/>
            </a:pPr>
            <a:r>
              <a:rPr lang="ko-KR" altLang="en-US" dirty="0" err="1"/>
              <a:t>Average</a:t>
            </a:r>
            <a:r>
              <a:rPr lang="ko-KR" altLang="en-US" dirty="0"/>
              <a:t> Precision (AP)</a:t>
            </a:r>
          </a:p>
        </p:txBody>
      </p:sp>
    </p:spTree>
    <p:extLst>
      <p:ext uri="{BB962C8B-B14F-4D97-AF65-F5344CB8AC3E}">
        <p14:creationId xmlns:p14="http://schemas.microsoft.com/office/powerpoint/2010/main" val="376175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980F84BE-119C-A391-CE93-42D5CFC85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15DFE081-74E2-5051-27CB-062307114E9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E05795ED-60BC-19A0-FD85-4694D692370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9A25E31B-8EC9-AF20-3FBB-08847E1E02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580E79F6-7106-00FD-ACBF-2246AE32FBC6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n-US" sz="2000" b="1">
                <a:solidFill>
                  <a:srgbClr val="19264B"/>
                </a:solidFill>
                <a:latin typeface="NanumGothic ExtraBold"/>
                <a:sym typeface="NanumGothic ExtraBold"/>
              </a:rPr>
              <a:t>Data Preprocessing</a:t>
            </a:r>
            <a:endParaRPr 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DA7BE-08C7-3FA5-E28C-95A64016E2C6}"/>
              </a:ext>
            </a:extLst>
          </p:cNvPr>
          <p:cNvSpPr txBox="1"/>
          <p:nvPr/>
        </p:nvSpPr>
        <p:spPr>
          <a:xfrm>
            <a:off x="1430447" y="1030199"/>
            <a:ext cx="7181490" cy="33239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ko-KR" altLang="en-US" dirty="0"/>
              <a:t>행동 패턴을 반영한 파생 변수 제작</a:t>
            </a:r>
            <a:endParaRPr lang="en-US" altLang="ko-KR" dirty="0"/>
          </a:p>
          <a:p>
            <a:pPr marL="285750" indent="-285750">
              <a:buFont typeface="Calibri"/>
              <a:buChar char="-"/>
            </a:pPr>
            <a:endParaRPr lang="ko-KR" altLang="en-US" dirty="0"/>
          </a:p>
          <a:p>
            <a:pPr marL="742950" lvl="1" indent="-285750">
              <a:buFont typeface="Courier New"/>
              <a:buChar char="o"/>
            </a:pPr>
            <a:r>
              <a:rPr lang="ko-KR" altLang="en-US" dirty="0"/>
              <a:t>비율 및 행동 패턴 (단기 이상 탐지)</a:t>
            </a:r>
          </a:p>
          <a:p>
            <a:pPr marL="1200150" lvl="2" indent="-285750">
              <a:buFont typeface="Wingdings"/>
              <a:buChar char="§"/>
            </a:pPr>
            <a:r>
              <a:rPr lang="ko-KR" altLang="en-US" b="1" dirty="0" err="1"/>
              <a:t>Req_rate_spike</a:t>
            </a:r>
            <a:r>
              <a:rPr lang="ko-KR" altLang="en-US" dirty="0"/>
              <a:t> - 최근 6시간/24시간 요청 비율</a:t>
            </a:r>
          </a:p>
          <a:p>
            <a:pPr marL="1200150" lvl="2" indent="-285750">
              <a:buFont typeface="Wingdings"/>
              <a:buChar char="§"/>
            </a:pPr>
            <a:r>
              <a:rPr lang="ko-KR" altLang="en-US" b="1" dirty="0" err="1"/>
              <a:t>Device_email_ratio</a:t>
            </a:r>
            <a:r>
              <a:rPr lang="ko-KR" altLang="en-US" dirty="0"/>
              <a:t> – </a:t>
            </a:r>
            <a:r>
              <a:rPr lang="ko-KR" altLang="en-US" dirty="0" err="1"/>
              <a:t>email</a:t>
            </a:r>
            <a:r>
              <a:rPr lang="ko-KR" altLang="en-US" dirty="0"/>
              <a:t> 계정 수 대비 세션 길이</a:t>
            </a:r>
            <a:endParaRPr lang="en-US" altLang="ko-KR" dirty="0"/>
          </a:p>
          <a:p>
            <a:pPr marL="1200150" lvl="2" indent="-285750">
              <a:buFont typeface="Wingdings"/>
              <a:buChar char="§"/>
            </a:pPr>
            <a:endParaRPr lang="ko-KR" altLang="en-US" dirty="0"/>
          </a:p>
          <a:p>
            <a:pPr marL="742950" lvl="1" indent="-285750">
              <a:buFont typeface="Courier New"/>
              <a:buChar char="o"/>
            </a:pPr>
            <a:r>
              <a:rPr lang="ko-KR" altLang="en-US" dirty="0" err="1"/>
              <a:t>Risk</a:t>
            </a:r>
            <a:r>
              <a:rPr lang="ko-KR" altLang="en-US" dirty="0"/>
              <a:t> 지표</a:t>
            </a:r>
          </a:p>
          <a:p>
            <a:pPr marL="1200150" lvl="2" indent="-285750">
              <a:buFont typeface="Wingdings"/>
              <a:buChar char="§"/>
            </a:pPr>
            <a:r>
              <a:rPr lang="ko-KR" altLang="en-US" b="1" dirty="0" err="1"/>
              <a:t>Is_high_risk_email</a:t>
            </a:r>
            <a:r>
              <a:rPr lang="ko-KR" altLang="en-US" b="1" dirty="0"/>
              <a:t> </a:t>
            </a:r>
            <a:r>
              <a:rPr lang="ko-KR" altLang="en-US" dirty="0"/>
              <a:t>- 이름과 </a:t>
            </a:r>
            <a:r>
              <a:rPr lang="ko-KR" altLang="en-US" dirty="0" err="1"/>
              <a:t>email의</a:t>
            </a:r>
            <a:r>
              <a:rPr lang="ko-KR" altLang="en-US" dirty="0"/>
              <a:t> 유사도가 낮고 무료 </a:t>
            </a:r>
            <a:r>
              <a:rPr lang="ko-KR" altLang="en-US" dirty="0" err="1"/>
              <a:t>email</a:t>
            </a:r>
            <a:r>
              <a:rPr lang="ko-KR" altLang="en-US" dirty="0"/>
              <a:t> 사용 비율</a:t>
            </a:r>
          </a:p>
          <a:p>
            <a:pPr marL="1200150" lvl="2" indent="-285750">
              <a:buFont typeface="Wingdings"/>
              <a:buChar char="§"/>
            </a:pPr>
            <a:r>
              <a:rPr lang="ko-KR" altLang="en-US" b="1" dirty="0" err="1"/>
              <a:t>Foreign_unstable_risk</a:t>
            </a:r>
            <a:r>
              <a:rPr lang="ko-KR" altLang="en-US" dirty="0"/>
              <a:t> - 해외 요청 + 세션 유지 안됨</a:t>
            </a:r>
            <a:endParaRPr lang="en-US" altLang="ko-KR" dirty="0"/>
          </a:p>
          <a:p>
            <a:pPr marL="1200150" lvl="2" indent="-285750">
              <a:buFont typeface="Wingdings"/>
              <a:buChar char="§"/>
            </a:pPr>
            <a:endParaRPr lang="ko-KR" altLang="en-US" dirty="0"/>
          </a:p>
          <a:p>
            <a:pPr marL="742950" lvl="1" indent="-285750">
              <a:buFont typeface="Courier New"/>
              <a:buChar char="o"/>
            </a:pPr>
            <a:r>
              <a:rPr lang="ko-KR" altLang="en-US" dirty="0" err="1"/>
              <a:t>Cluster</a:t>
            </a:r>
            <a:r>
              <a:rPr lang="ko-KR" altLang="en-US" dirty="0"/>
              <a:t> 대비 이상치 (상대적 편차)</a:t>
            </a:r>
          </a:p>
          <a:p>
            <a:pPr marL="1200150" lvl="2" indent="-285750">
              <a:buFont typeface="Wingdings"/>
              <a:buChar char="§"/>
            </a:pPr>
            <a:r>
              <a:rPr lang="ko-KR" altLang="en-US" b="1" dirty="0" err="1"/>
              <a:t>Limit_diff_from_age_mean</a:t>
            </a:r>
            <a:r>
              <a:rPr lang="ko-KR" altLang="en-US" dirty="0"/>
              <a:t> - 연령대별 평균 한도와의 차이</a:t>
            </a:r>
          </a:p>
          <a:p>
            <a:pPr marL="1200150" lvl="2" indent="-285750">
              <a:buFont typeface="Wingdings"/>
              <a:buChar char="§"/>
            </a:pPr>
            <a:r>
              <a:rPr lang="ko-KR" altLang="en-US" b="1" dirty="0" err="1"/>
              <a:t>Income_diff_from_housing_mean</a:t>
            </a:r>
            <a:r>
              <a:rPr lang="ko-KR" altLang="en-US" dirty="0"/>
              <a:t> - 주거 형태별 평균 소득과의 차이</a:t>
            </a:r>
            <a:br>
              <a:rPr lang="en-US" altLang="ko-KR" dirty="0"/>
            </a:br>
            <a:endParaRPr lang="en-US" altLang="ko-KR" dirty="0"/>
          </a:p>
          <a:p>
            <a:pPr marL="914400"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32701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B7ED1ECC-E74C-EDA5-A19F-54E149ABB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4B3971C5-F0E9-7302-9CAE-C6EC02B6B34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0E76A7F0-1807-A048-6C4B-4FD82808E1C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5E03BAE8-969E-9F8C-5D77-A219A245338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D50442BB-6347-39C1-E53F-0BF31F6E7668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n-US" altLang="ko-KR" sz="2000" b="1">
                <a:solidFill>
                  <a:srgbClr val="19264B"/>
                </a:solidFill>
                <a:latin typeface="NanumGothic ExtraBold"/>
              </a:rPr>
              <a:t>Modeling </a:t>
            </a:r>
            <a:r>
              <a:rPr lang="en-US" altLang="ko-KR" sz="2000" b="1" err="1">
                <a:solidFill>
                  <a:srgbClr val="19264B"/>
                </a:solidFill>
                <a:latin typeface="NanumGothic ExtraBold"/>
              </a:rPr>
              <a:t>Strateg</a:t>
            </a:r>
            <a:r>
              <a:rPr lang="en-US" altLang="ko-KR" sz="2000" b="1">
                <a:solidFill>
                  <a:srgbClr val="19264B"/>
                </a:solidFill>
                <a:latin typeface="NanumGothic ExtraBold"/>
              </a:rPr>
              <a:t>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5E7A9-5F54-CB2E-92E5-6A837D66035D}"/>
              </a:ext>
            </a:extLst>
          </p:cNvPr>
          <p:cNvSpPr txBox="1"/>
          <p:nvPr/>
        </p:nvSpPr>
        <p:spPr>
          <a:xfrm>
            <a:off x="1473578" y="976284"/>
            <a:ext cx="5523851" cy="1600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ko-KR" altLang="en-US" b="1" dirty="0"/>
              <a:t>Pipeline 1 : K-</a:t>
            </a:r>
            <a:r>
              <a:rPr lang="ko-KR" altLang="en-US" b="1" dirty="0" err="1"/>
              <a:t>Fold</a:t>
            </a:r>
            <a:r>
              <a:rPr lang="ko-KR" altLang="en-US" b="1" dirty="0"/>
              <a:t> </a:t>
            </a:r>
            <a:r>
              <a:rPr lang="ko-KR" altLang="en-US" b="1" dirty="0" err="1"/>
              <a:t>corss</a:t>
            </a:r>
            <a:r>
              <a:rPr lang="ko-KR" altLang="en-US" b="1" dirty="0"/>
              <a:t> </a:t>
            </a:r>
            <a:r>
              <a:rPr lang="ko-KR" altLang="en-US" b="1" dirty="0" err="1"/>
              <a:t>validation</a:t>
            </a:r>
            <a:r>
              <a:rPr lang="ko-KR" altLang="en-US" dirty="0"/>
              <a:t> </a:t>
            </a:r>
          </a:p>
          <a:p>
            <a:pPr marL="742950" lvl="1" indent="-285750">
              <a:buFont typeface="Courier New"/>
              <a:buChar char="o"/>
            </a:pPr>
            <a:r>
              <a:rPr lang="ko-KR" altLang="en-US" dirty="0" err="1"/>
              <a:t>LightGBM</a:t>
            </a:r>
            <a:r>
              <a:rPr lang="ko-KR" altLang="en-US" dirty="0"/>
              <a:t>, </a:t>
            </a:r>
            <a:r>
              <a:rPr lang="ko-KR" altLang="en-US" dirty="0" err="1"/>
              <a:t>CatBoost</a:t>
            </a:r>
            <a:endParaRPr lang="ko-KR" altLang="en-US" dirty="0"/>
          </a:p>
          <a:p>
            <a:pPr marL="742950" lvl="1" indent="-285750">
              <a:buFont typeface="Courier New"/>
              <a:buChar char="o"/>
            </a:pPr>
            <a:r>
              <a:rPr lang="ko-KR" altLang="en-US" dirty="0" err="1"/>
              <a:t>Stratified</a:t>
            </a:r>
            <a:r>
              <a:rPr lang="ko-KR" altLang="en-US" dirty="0"/>
              <a:t> K-</a:t>
            </a:r>
            <a:r>
              <a:rPr lang="ko-KR" altLang="en-US" dirty="0" err="1"/>
              <a:t>Fold로</a:t>
            </a:r>
            <a:r>
              <a:rPr lang="ko-KR" altLang="en-US" dirty="0"/>
              <a:t> </a:t>
            </a:r>
            <a:r>
              <a:rPr lang="ko-KR" altLang="en-US" dirty="0" err="1"/>
              <a:t>class</a:t>
            </a:r>
            <a:r>
              <a:rPr lang="ko-KR" altLang="en-US" dirty="0"/>
              <a:t> 비율 유지</a:t>
            </a:r>
            <a:endParaRPr lang="en-US" altLang="ko-KR" dirty="0"/>
          </a:p>
          <a:p>
            <a:pPr marL="742950" lvl="1" indent="-285750">
              <a:buFont typeface="Courier New"/>
              <a:buChar char="o"/>
            </a:pPr>
            <a:endParaRPr lang="ko-KR" altLang="en-US" dirty="0"/>
          </a:p>
          <a:p>
            <a:pPr marL="285750" indent="-285750">
              <a:buFont typeface="Calibri"/>
              <a:buChar char="-"/>
            </a:pPr>
            <a:r>
              <a:rPr lang="ko-KR" altLang="en-US" b="1" dirty="0"/>
              <a:t>Pipeline 2 :시계열 기반 </a:t>
            </a:r>
            <a:r>
              <a:rPr lang="ko-KR" altLang="en-US" b="1" dirty="0" err="1"/>
              <a:t>validation</a:t>
            </a:r>
            <a:r>
              <a:rPr lang="ko-KR" altLang="en-US" b="1" dirty="0"/>
              <a:t> (OOT)</a:t>
            </a:r>
          </a:p>
          <a:p>
            <a:pPr marL="742950" lvl="1" indent="-285750">
              <a:buFont typeface="Courier New"/>
              <a:buChar char="o"/>
            </a:pPr>
            <a:r>
              <a:rPr lang="ko-KR" altLang="en-US" dirty="0" err="1"/>
              <a:t>XGBoost</a:t>
            </a:r>
            <a:endParaRPr lang="ko-KR" altLang="en-US" dirty="0"/>
          </a:p>
          <a:p>
            <a:pPr marL="742950" lvl="1" indent="-285750">
              <a:buFont typeface="Courier New"/>
              <a:buChar char="o"/>
            </a:pPr>
            <a:r>
              <a:rPr lang="ko-KR" altLang="en-US" dirty="0"/>
              <a:t>최근 2개월 데이터를 </a:t>
            </a:r>
            <a:r>
              <a:rPr lang="ko-KR" altLang="en-US" dirty="0" err="1"/>
              <a:t>validation</a:t>
            </a:r>
            <a:r>
              <a:rPr lang="ko-KR" altLang="en-US" dirty="0"/>
              <a:t> </a:t>
            </a:r>
            <a:r>
              <a:rPr lang="ko-KR" altLang="en-US" dirty="0" err="1"/>
              <a:t>set으로</a:t>
            </a:r>
            <a:r>
              <a:rPr lang="ko-KR" altLang="en-US" dirty="0"/>
              <a:t> 시간 흐름 반영</a:t>
            </a:r>
          </a:p>
        </p:txBody>
      </p:sp>
    </p:spTree>
    <p:extLst>
      <p:ext uri="{BB962C8B-B14F-4D97-AF65-F5344CB8AC3E}">
        <p14:creationId xmlns:p14="http://schemas.microsoft.com/office/powerpoint/2010/main" val="2639407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F732B532-CE38-210B-12AE-C0A1CA5F1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379E2171-7138-F114-67AF-07CF564C2BA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72D2FDC9-2C4A-6B7E-1BE9-CBC19D39361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E85ED860-51CA-91A1-13F8-7935AD5B978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F87F6EFA-F9D0-CA8B-E7DF-E4CE4B6B708D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n-US" altLang="ko-KR" sz="2000" b="1">
                <a:solidFill>
                  <a:srgbClr val="19264B"/>
                </a:solidFill>
                <a:latin typeface="NanumGothic ExtraBold"/>
              </a:rPr>
              <a:t>Pipeline 1 : </a:t>
            </a:r>
            <a:r>
              <a:rPr lang="en-US" altLang="ko-KR" sz="2000" b="1" err="1">
                <a:solidFill>
                  <a:srgbClr val="19264B"/>
                </a:solidFill>
                <a:latin typeface="NanumGothic ExtraBold"/>
              </a:rPr>
              <a:t>LightGBM</a:t>
            </a:r>
            <a:r>
              <a:rPr lang="en-US" altLang="ko-KR" sz="2000" b="1">
                <a:solidFill>
                  <a:srgbClr val="19264B"/>
                </a:solidFill>
                <a:latin typeface="NanumGothic ExtraBold"/>
              </a:rPr>
              <a:t> &amp; </a:t>
            </a:r>
            <a:r>
              <a:rPr lang="en-US" altLang="ko-KR" sz="2000" b="1" err="1">
                <a:solidFill>
                  <a:srgbClr val="19264B"/>
                </a:solidFill>
                <a:latin typeface="NanumGothic ExtraBold"/>
              </a:rPr>
              <a:t>CatBoost</a:t>
            </a:r>
            <a:endParaRPr lang="ko-KR" altLang="en-US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4C2B5-018C-4F34-4AFA-57D3D33F53F4}"/>
              </a:ext>
            </a:extLst>
          </p:cNvPr>
          <p:cNvSpPr txBox="1"/>
          <p:nvPr/>
        </p:nvSpPr>
        <p:spPr>
          <a:xfrm>
            <a:off x="1430447" y="1030199"/>
            <a:ext cx="6124754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ko-KR" altLang="en-US" dirty="0"/>
              <a:t>범주형 변수 최적화 및 가중치를 두어 </a:t>
            </a:r>
            <a:r>
              <a:rPr lang="ko-KR" altLang="en-US" dirty="0" err="1"/>
              <a:t>ensemble</a:t>
            </a:r>
            <a:endParaRPr lang="en-US" altLang="ko-KR" dirty="0"/>
          </a:p>
          <a:p>
            <a:pPr marL="285750" indent="-285750">
              <a:buFont typeface="Calibri"/>
              <a:buChar char="-"/>
            </a:pPr>
            <a:endParaRPr lang="ko-KR" altLang="en-US" dirty="0"/>
          </a:p>
          <a:p>
            <a:pPr marL="742950" lvl="1" indent="-285750">
              <a:buFont typeface="Courier New"/>
              <a:buChar char="o"/>
            </a:pPr>
            <a:r>
              <a:rPr lang="ko-KR" altLang="en-US" dirty="0"/>
              <a:t> </a:t>
            </a:r>
            <a:r>
              <a:rPr lang="ko-KR" altLang="en-US" dirty="0" err="1"/>
              <a:t>Validation</a:t>
            </a:r>
            <a:r>
              <a:rPr lang="ko-KR" altLang="en-US" dirty="0"/>
              <a:t> </a:t>
            </a:r>
            <a:r>
              <a:rPr lang="ko-KR" altLang="en-US" dirty="0" err="1"/>
              <a:t>method</a:t>
            </a:r>
            <a:r>
              <a:rPr lang="ko-KR" altLang="en-US" dirty="0"/>
              <a:t> – </a:t>
            </a:r>
            <a:r>
              <a:rPr lang="ko-KR" altLang="en-US" dirty="0" err="1"/>
              <a:t>Stratiified</a:t>
            </a:r>
            <a:r>
              <a:rPr lang="ko-KR" altLang="en-US" dirty="0"/>
              <a:t> 5-Fold CV</a:t>
            </a:r>
            <a:endParaRPr lang="en-US" altLang="ko-KR" dirty="0"/>
          </a:p>
          <a:p>
            <a:pPr marL="742950" lvl="1" indent="-285750">
              <a:buFont typeface="Courier New"/>
              <a:buChar char="o"/>
            </a:pPr>
            <a:endParaRPr lang="ko-KR" altLang="en-US" dirty="0"/>
          </a:p>
          <a:p>
            <a:pPr marL="742950" lvl="1" indent="-285750">
              <a:buFont typeface="Courier New"/>
              <a:buChar char="o"/>
            </a:pPr>
            <a:r>
              <a:rPr lang="ko-KR" altLang="en-US" dirty="0"/>
              <a:t>Data </a:t>
            </a:r>
            <a:r>
              <a:rPr lang="ko-KR" altLang="en-US" dirty="0" err="1"/>
              <a:t>preprocessing</a:t>
            </a:r>
            <a:endParaRPr lang="ko-KR" altLang="en-US" dirty="0"/>
          </a:p>
          <a:p>
            <a:pPr marL="1200150" lvl="2" indent="-285750">
              <a:buFont typeface="Wingdings"/>
              <a:buChar char="§"/>
            </a:pPr>
            <a:r>
              <a:rPr lang="ko-KR" altLang="en-US" dirty="0" err="1"/>
              <a:t>LightGBM</a:t>
            </a:r>
            <a:r>
              <a:rPr lang="ko-KR" altLang="en-US" dirty="0"/>
              <a:t> – Target </a:t>
            </a:r>
            <a:r>
              <a:rPr lang="ko-KR" altLang="en-US" dirty="0" err="1"/>
              <a:t>Encoding</a:t>
            </a:r>
            <a:r>
              <a:rPr lang="ko-KR" altLang="en-US" dirty="0"/>
              <a:t> 적용 (</a:t>
            </a:r>
            <a:r>
              <a:rPr lang="ko-KR" altLang="en-US" dirty="0" err="1"/>
              <a:t>smoothing</a:t>
            </a:r>
            <a:r>
              <a:rPr lang="ko-KR" altLang="en-US" dirty="0"/>
              <a:t> 10)</a:t>
            </a:r>
          </a:p>
          <a:p>
            <a:pPr marL="1200150" lvl="2" indent="-285750">
              <a:buFont typeface="Wingdings"/>
              <a:buChar char="§"/>
            </a:pPr>
            <a:r>
              <a:rPr lang="ko-KR" altLang="en-US" dirty="0" err="1"/>
              <a:t>CatBoost</a:t>
            </a:r>
            <a:r>
              <a:rPr lang="ko-KR" altLang="en-US" dirty="0"/>
              <a:t> – </a:t>
            </a:r>
            <a:r>
              <a:rPr lang="ko-KR" altLang="en-US" dirty="0" err="1"/>
              <a:t>Category</a:t>
            </a:r>
            <a:r>
              <a:rPr lang="ko-KR" altLang="en-US" dirty="0"/>
              <a:t> </a:t>
            </a:r>
            <a:r>
              <a:rPr lang="ko-KR" altLang="en-US" dirty="0" err="1"/>
              <a:t>Feature</a:t>
            </a:r>
            <a:r>
              <a:rPr lang="ko-KR" altLang="en-US" dirty="0"/>
              <a:t> 처리</a:t>
            </a:r>
            <a:endParaRPr lang="en-US" altLang="ko-KR" dirty="0"/>
          </a:p>
          <a:p>
            <a:pPr marL="1200150" lvl="2" indent="-285750">
              <a:buFont typeface="Wingdings"/>
              <a:buChar char="§"/>
            </a:pPr>
            <a:endParaRPr lang="ko-KR" altLang="en-US" dirty="0"/>
          </a:p>
          <a:p>
            <a:pPr marL="742950" lvl="1" indent="-285750">
              <a:buFont typeface="Courier New"/>
              <a:buChar char="o"/>
            </a:pPr>
            <a:r>
              <a:rPr lang="ko-KR" altLang="en-US" dirty="0" err="1"/>
              <a:t>Ensemble</a:t>
            </a:r>
            <a:endParaRPr lang="ko-KR" altLang="en-US" dirty="0"/>
          </a:p>
          <a:p>
            <a:pPr marL="1200150" lvl="2" indent="-285750">
              <a:buFont typeface="Wingdings"/>
              <a:buChar char="§"/>
            </a:pPr>
            <a:r>
              <a:rPr lang="ko-KR" altLang="en-US" dirty="0"/>
              <a:t>0.05 단위 가중치 탐색으로 최고 </a:t>
            </a:r>
            <a:r>
              <a:rPr lang="ko-KR" altLang="en-US" dirty="0" err="1"/>
              <a:t>validation</a:t>
            </a:r>
            <a:r>
              <a:rPr lang="ko-KR" altLang="en-US" dirty="0"/>
              <a:t> AP 도출</a:t>
            </a:r>
          </a:p>
        </p:txBody>
      </p:sp>
      <p:pic>
        <p:nvPicPr>
          <p:cNvPr id="2" name="그림 1" descr="폰트, 텍스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046542-AE1B-58B1-DEB6-71CA1F7E9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734" y="3527603"/>
            <a:ext cx="3921964" cy="58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35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5928BCBA-73C8-9A29-6C9E-4B62E20D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5D488B62-D68A-F020-A98D-68C574EFF35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5CD71CAD-E6C8-F8EE-C2E9-E2A7218E466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C5C85C91-98C6-18F2-6887-3A68E2D6B1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49A1EA18-3786-219D-FF3D-ED73C70A2615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NanumGothic ExtraBold"/>
              </a:rPr>
              <a:t>Pipeline 2 : </a:t>
            </a:r>
            <a:r>
              <a:rPr lang="en-US" altLang="ko-KR" sz="2000" b="1" dirty="0" err="1">
                <a:solidFill>
                  <a:srgbClr val="19264B"/>
                </a:solidFill>
                <a:latin typeface="NanumGothic ExtraBold"/>
              </a:rPr>
              <a:t>XGBoost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58575-7A9A-5B1D-0949-3E961B902482}"/>
              </a:ext>
            </a:extLst>
          </p:cNvPr>
          <p:cNvSpPr txBox="1"/>
          <p:nvPr/>
        </p:nvSpPr>
        <p:spPr>
          <a:xfrm>
            <a:off x="1430447" y="1030199"/>
            <a:ext cx="6124754" cy="1600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ko-KR" altLang="en-US" dirty="0"/>
              <a:t>시간에 따른 데이터 변화 대응</a:t>
            </a:r>
            <a:endParaRPr lang="en-US" altLang="ko-KR" dirty="0"/>
          </a:p>
          <a:p>
            <a:pPr marL="285750" indent="-285750">
              <a:buFont typeface="Calibri"/>
              <a:buChar char="-"/>
            </a:pPr>
            <a:endParaRPr lang="ko-KR" altLang="en-US" dirty="0"/>
          </a:p>
          <a:p>
            <a:pPr marL="285750" indent="-285750">
              <a:buFont typeface="Calibri"/>
              <a:buChar char="-"/>
            </a:pPr>
            <a:r>
              <a:rPr lang="ko-KR" altLang="en-US" dirty="0" err="1"/>
              <a:t>Validation</a:t>
            </a:r>
            <a:r>
              <a:rPr lang="ko-KR" altLang="en-US" dirty="0"/>
              <a:t> </a:t>
            </a:r>
            <a:r>
              <a:rPr lang="ko-KR" altLang="en-US" dirty="0" err="1"/>
              <a:t>method</a:t>
            </a:r>
            <a:r>
              <a:rPr lang="ko-KR" altLang="en-US" dirty="0"/>
              <a:t> – Time-</a:t>
            </a:r>
            <a:r>
              <a:rPr lang="ko-KR" altLang="en-US" dirty="0" err="1"/>
              <a:t>Series</a:t>
            </a:r>
            <a:r>
              <a:rPr lang="ko-KR" altLang="en-US" dirty="0"/>
              <a:t> OOT (</a:t>
            </a:r>
            <a:r>
              <a:rPr lang="ko-KR" altLang="en-US" dirty="0" err="1"/>
              <a:t>Out</a:t>
            </a:r>
            <a:r>
              <a:rPr lang="ko-KR" altLang="en-US" dirty="0"/>
              <a:t>-of-Time)</a:t>
            </a:r>
          </a:p>
          <a:p>
            <a:pPr marL="742950" lvl="1" indent="-285750">
              <a:buFont typeface="Courier New"/>
              <a:buChar char="o"/>
            </a:pPr>
            <a:r>
              <a:rPr lang="ko-KR" altLang="en-US" dirty="0"/>
              <a:t>최근 </a:t>
            </a:r>
            <a:r>
              <a:rPr lang="en-US" altLang="ko-KR" dirty="0"/>
              <a:t>8</a:t>
            </a:r>
            <a:r>
              <a:rPr lang="ko-KR" altLang="en-US" dirty="0"/>
              <a:t>개월 중에서 마지막 2개월을 </a:t>
            </a:r>
            <a:r>
              <a:rPr lang="ko-KR" altLang="en-US" dirty="0" err="1"/>
              <a:t>validation</a:t>
            </a:r>
            <a:r>
              <a:rPr lang="ko-KR" altLang="en-US" dirty="0"/>
              <a:t> </a:t>
            </a:r>
            <a:r>
              <a:rPr lang="ko-KR" altLang="en-US" dirty="0" err="1"/>
              <a:t>set으로</a:t>
            </a:r>
            <a:r>
              <a:rPr lang="ko-KR" altLang="en-US" dirty="0"/>
              <a:t> 분리</a:t>
            </a:r>
            <a:endParaRPr lang="en-US" altLang="ko-KR" dirty="0"/>
          </a:p>
          <a:p>
            <a:pPr marL="742950" lvl="1" indent="-285750">
              <a:buFont typeface="Courier New"/>
              <a:buChar char="o"/>
            </a:pPr>
            <a:endParaRPr lang="ko-KR" altLang="en-US" dirty="0"/>
          </a:p>
          <a:p>
            <a:pPr marL="285750" indent="-285750">
              <a:buFont typeface="Calibri"/>
              <a:buChar char="-"/>
            </a:pPr>
            <a:r>
              <a:rPr lang="ko-KR" altLang="en-US" dirty="0" err="1"/>
              <a:t>Multi-seed</a:t>
            </a:r>
            <a:r>
              <a:rPr lang="ko-KR" altLang="en-US" dirty="0"/>
              <a:t> </a:t>
            </a:r>
            <a:r>
              <a:rPr lang="ko-KR" altLang="en-US" dirty="0" err="1"/>
              <a:t>ensemble</a:t>
            </a:r>
            <a:endParaRPr lang="ko-KR" altLang="en-US" dirty="0"/>
          </a:p>
          <a:p>
            <a:pPr marL="742950" lvl="1" indent="-285750">
              <a:buFont typeface="Courier New"/>
              <a:buChar char="o"/>
            </a:pPr>
            <a:r>
              <a:rPr lang="ko-KR" altLang="en-US" dirty="0"/>
              <a:t>2개의 </a:t>
            </a:r>
            <a:r>
              <a:rPr lang="ko-KR" altLang="en-US" dirty="0" err="1"/>
              <a:t>seed</a:t>
            </a:r>
            <a:r>
              <a:rPr lang="ko-KR" altLang="en-US" dirty="0"/>
              <a:t> (42, 52) 결과를 평균 내어 모델의 </a:t>
            </a:r>
            <a:r>
              <a:rPr lang="ko-KR" altLang="en-US" dirty="0" err="1"/>
              <a:t>variance</a:t>
            </a:r>
            <a:r>
              <a:rPr lang="ko-KR" altLang="en-US" dirty="0"/>
              <a:t> 감소</a:t>
            </a:r>
          </a:p>
        </p:txBody>
      </p:sp>
    </p:spTree>
    <p:extLst>
      <p:ext uri="{BB962C8B-B14F-4D97-AF65-F5344CB8AC3E}">
        <p14:creationId xmlns:p14="http://schemas.microsoft.com/office/powerpoint/2010/main" val="303646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9A886267-2E5A-D458-885B-3704B532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C8CE10F-046D-0372-7F1F-ADFBFB0E99D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B1875DF2-CA0E-9AD5-EBC4-3BC35BBE82C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DB1963AD-E948-534C-902F-3F85C338A4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DD7017E7-A7F2-6CB8-5C95-6A106344C62D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n-US" altLang="ko-KR" sz="2000" b="1">
                <a:solidFill>
                  <a:srgbClr val="19264B"/>
                </a:solidFill>
                <a:latin typeface="NanumGothic ExtraBold"/>
              </a:rPr>
              <a:t>Power Mean Ensemble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3A82B-648B-B6BB-6650-C70827817554}"/>
              </a:ext>
            </a:extLst>
          </p:cNvPr>
          <p:cNvSpPr txBox="1"/>
          <p:nvPr/>
        </p:nvSpPr>
        <p:spPr>
          <a:xfrm>
            <a:off x="1430447" y="1030199"/>
            <a:ext cx="6572174" cy="1600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ko-KR" altLang="en-US" dirty="0"/>
              <a:t>확신도를 보존하는 거듭제곱 평균 결합</a:t>
            </a:r>
            <a:endParaRPr lang="en-US" altLang="ko-KR" dirty="0"/>
          </a:p>
          <a:p>
            <a:pPr marL="285750" indent="-285750">
              <a:buFont typeface="Calibri"/>
              <a:buChar char="-"/>
            </a:pPr>
            <a:endParaRPr lang="ko-KR" altLang="en-US" dirty="0"/>
          </a:p>
          <a:p>
            <a:pPr marL="285750" indent="-285750">
              <a:buFont typeface="Calibri"/>
              <a:buChar char="-"/>
            </a:pPr>
            <a:r>
              <a:rPr lang="ko-KR" altLang="en-US" dirty="0"/>
              <a:t>기존 산술 평균의 한계</a:t>
            </a:r>
          </a:p>
          <a:p>
            <a:pPr marL="457200" lvl="1"/>
            <a:r>
              <a:rPr lang="en-US" altLang="ko-KR" dirty="0"/>
              <a:t>-</a:t>
            </a:r>
            <a:r>
              <a:rPr lang="ko-KR" altLang="en-US" dirty="0"/>
              <a:t> 한 모델이 사기를 강하게 확신해도, 다른 모델이 낮게 예측하면 값이 희석</a:t>
            </a:r>
            <a:endParaRPr lang="en-US" altLang="ko-KR" dirty="0"/>
          </a:p>
          <a:p>
            <a:pPr marL="742950" lvl="1" indent="-285750">
              <a:buFont typeface="Calibri"/>
              <a:buChar char="-"/>
            </a:pPr>
            <a:endParaRPr lang="ko-KR" dirty="0"/>
          </a:p>
          <a:p>
            <a:pPr marL="285750" indent="-285750">
              <a:buFont typeface="Calibri"/>
              <a:buChar char="-"/>
            </a:pPr>
            <a:r>
              <a:rPr lang="ko-KR" altLang="en-US" dirty="0" err="1"/>
              <a:t>P</a:t>
            </a:r>
            <a:r>
              <a:rPr lang="ko-KR" altLang="en-US" dirty="0"/>
              <a:t>=2 Power </a:t>
            </a:r>
            <a:r>
              <a:rPr lang="ko-KR" altLang="en-US" dirty="0" err="1"/>
              <a:t>Mean</a:t>
            </a:r>
            <a:r>
              <a:rPr lang="ko-KR" altLang="en-US" dirty="0"/>
              <a:t> 적용</a:t>
            </a:r>
          </a:p>
          <a:p>
            <a:pPr marL="457200" lvl="1"/>
            <a:r>
              <a:rPr lang="en-US" altLang="ko-KR" dirty="0"/>
              <a:t>-</a:t>
            </a:r>
            <a:r>
              <a:rPr lang="ko-KR" altLang="en-US" dirty="0"/>
              <a:t> 사기일 확률이 </a:t>
            </a:r>
            <a:r>
              <a:rPr lang="ko-KR" altLang="en-US" dirty="0" err="1"/>
              <a:t>높은쪽에</a:t>
            </a:r>
            <a:r>
              <a:rPr lang="ko-KR" altLang="en-US" dirty="0"/>
              <a:t> 더 많은 가중치 부여</a:t>
            </a:r>
          </a:p>
        </p:txBody>
      </p:sp>
      <p:pic>
        <p:nvPicPr>
          <p:cNvPr id="2" name="그림 1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017C5B-3A43-2467-1F5E-B25D9F8E1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474" y="2830606"/>
            <a:ext cx="2755851" cy="67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38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3F3D2733-ADA8-8B7A-F3F8-BD56EBBB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2BE7BBD3-478E-E8DC-1F73-C53CDC29626D}"/>
              </a:ext>
            </a:extLst>
          </p:cNvPr>
          <p:cNvSpPr/>
          <p:nvPr/>
        </p:nvSpPr>
        <p:spPr>
          <a:xfrm>
            <a:off x="0" y="-37950"/>
            <a:ext cx="918464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91A39314-F054-AA15-6DB2-98B9A1D0058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D92993E-C9DC-3773-F505-9AADC3DA8F0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3FBA4906-18AE-3C24-BE02-498F5EEEFB7C}"/>
              </a:ext>
            </a:extLst>
          </p:cNvPr>
          <p:cNvSpPr txBox="1"/>
          <p:nvPr/>
        </p:nvSpPr>
        <p:spPr>
          <a:xfrm>
            <a:off x="2739935" y="2125489"/>
            <a:ext cx="4427945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>
                <a:solidFill>
                  <a:schemeClr val="bg1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r>
              <a:rPr lang="en-US" altLang="ko-KR" sz="4000" b="1">
                <a:solidFill>
                  <a:schemeClr val="bg1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. </a:t>
            </a:r>
            <a:endParaRPr sz="4000" b="1">
              <a:solidFill>
                <a:schemeClr val="bg1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87917607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349</Words>
  <Application>Microsoft Macintosh PowerPoint</Application>
  <PresentationFormat>화면 슬라이드 쇼(16:9)</PresentationFormat>
  <Paragraphs>79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NanumGothic ExtraBold</vt:lpstr>
      <vt:lpstr>Arial</vt:lpstr>
      <vt:lpstr>Calibri</vt:lpstr>
      <vt:lpstr>Courier New</vt:lpstr>
      <vt:lpstr>Wingdings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dongha Lee</dc:creator>
  <cp:lastModifiedBy>김승범</cp:lastModifiedBy>
  <cp:revision>10</cp:revision>
  <dcterms:modified xsi:type="dcterms:W3CDTF">2026-03-31T04:14:11Z</dcterms:modified>
</cp:coreProperties>
</file>