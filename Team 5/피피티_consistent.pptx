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98" r:id="rId5"/>
    <p:sldId id="304" r:id="rId6"/>
    <p:sldId id="305" r:id="rId7"/>
    <p:sldId id="306" r:id="rId8"/>
    <p:sldId id="307" r:id="rId9"/>
    <p:sldId id="308" r:id="rId10"/>
    <p:sldId id="309" r:id="rId11"/>
  </p:sldIdLst>
  <p:sldSz cx="9144000" cy="5143500" type="screen16x9"/>
  <p:notesSz cx="6858000" cy="9144000"/>
  <p:embeddedFontLst>
    <p:embeddedFont>
      <p:font typeface="Nanum Gothic" panose="020B0600000101010101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Fraud vs Normal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78-4061-93C7-2754F6A8D7CC}"/>
              </c:ext>
            </c:extLst>
          </c:dPt>
          <c:dPt>
            <c:idx val="1"/>
            <c:bubble3D val="0"/>
            <c:spPr>
              <a:solidFill>
                <a:srgbClr val="5B84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78-4061-93C7-2754F6A8D7CC}"/>
              </c:ext>
            </c:extLst>
          </c:dPt>
          <c:cat>
            <c:strRef>
              <c:f>Sheet1!$A$2:$A$3</c:f>
              <c:strCache>
                <c:ptCount val="2"/>
                <c:pt idx="0">
                  <c:v>Fraud (1.09%)</c:v>
                </c:pt>
                <c:pt idx="1">
                  <c:v>Normal (98.91%)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7642</c:v>
                </c:pt>
                <c:pt idx="1">
                  <c:v>692358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78-4061-93C7-2754F6A8D7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solidFill>
            <a:srgbClr val="F8F9FC"/>
          </a:solidFill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/>
              <a:t>Baseline Model AP Scores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539724764134214"/>
          <c:y val="0.27083333333333331"/>
          <c:w val="0.83331146106736653"/>
          <c:h val="0.4958452947287839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</c:v>
                </c:pt>
              </c:strCache>
            </c:strRef>
          </c:tx>
          <c:spPr>
            <a:solidFill>
              <a:srgbClr val="1F77B4"/>
            </a:solidFill>
          </c:spPr>
          <c:invertIfNegative val="1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XGB_shallow</c:v>
                </c:pt>
                <c:pt idx="1">
                  <c:v>XGB_standard</c:v>
                </c:pt>
                <c:pt idx="2">
                  <c:v>XGB_deep</c:v>
                </c:pt>
                <c:pt idx="3">
                  <c:v>XGB_blind</c:v>
                </c:pt>
                <c:pt idx="4">
                  <c:v>CatBoost</c:v>
                </c:pt>
                <c:pt idx="5">
                  <c:v>LightGBM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0.177785</c:v>
                </c:pt>
                <c:pt idx="1">
                  <c:v>0.17861099999999999</c:v>
                </c:pt>
                <c:pt idx="2">
                  <c:v>0.17621300000000001</c:v>
                </c:pt>
                <c:pt idx="3">
                  <c:v>0.17866099999999999</c:v>
                </c:pt>
                <c:pt idx="4">
                  <c:v>0.17511599999999999</c:v>
                </c:pt>
                <c:pt idx="5">
                  <c:v>0.17272499999999999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8B4-40EE-B4DC-AD5F4DEC4C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/>
              <a:t>Model Weights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FF7F0E"/>
            </a:solidFill>
          </c:spPr>
          <c:invertIfNegative val="1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XGB_shallow</c:v>
                </c:pt>
                <c:pt idx="1">
                  <c:v>XGB_standard</c:v>
                </c:pt>
                <c:pt idx="2">
                  <c:v>XGB_deep</c:v>
                </c:pt>
                <c:pt idx="3">
                  <c:v>XGB_blind</c:v>
                </c:pt>
                <c:pt idx="4">
                  <c:v>CatBoost</c:v>
                </c:pt>
                <c:pt idx="5">
                  <c:v>LGB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0.16500000000000001</c:v>
                </c:pt>
                <c:pt idx="1">
                  <c:v>0.14480000000000001</c:v>
                </c:pt>
                <c:pt idx="2">
                  <c:v>0.21820000000000001</c:v>
                </c:pt>
                <c:pt idx="3">
                  <c:v>0.2387</c:v>
                </c:pt>
                <c:pt idx="4">
                  <c:v>0.23319999999999999</c:v>
                </c:pt>
                <c:pt idx="5">
                  <c:v>2.0000000000000001E-4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075-4DF8-952C-9F9B4ED65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/>
              <a:t>Scale_pos_weight Sweep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</c:v>
                </c:pt>
              </c:strCache>
            </c:strRef>
          </c:tx>
          <c:spPr>
            <a:ln>
              <a:solidFill>
                <a:srgbClr val="2CA02C"/>
              </a:solidFill>
            </a:ln>
          </c:spPr>
          <c:marker>
            <c:symbol val="diamond"/>
            <c:size val="5"/>
          </c:marker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0.15</c:v>
                </c:pt>
                <c:pt idx="1">
                  <c:v>0.161</c:v>
                </c:pt>
                <c:pt idx="2">
                  <c:v>0.1651</c:v>
                </c:pt>
                <c:pt idx="3">
                  <c:v>0.16200000000000001</c:v>
                </c:pt>
                <c:pt idx="4">
                  <c:v>0.16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BF-4765-9E27-874014C1F3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/>
              <a:t>Final Results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</c:v>
                </c:pt>
              </c:strCache>
            </c:strRef>
          </c:tx>
          <c:spPr>
            <a:solidFill>
              <a:srgbClr val="2CA02C"/>
            </a:solidFill>
          </c:spPr>
          <c:invertIfNegative val="1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XGB_blind</c:v>
                </c:pt>
                <c:pt idx="1">
                  <c:v>Zoo_WA</c:v>
                </c:pt>
                <c:pt idx="2">
                  <c:v>Zoo_Rank</c:v>
                </c:pt>
                <c:pt idx="3">
                  <c:v>Final Blend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0.17866099999999999</c:v>
                </c:pt>
                <c:pt idx="1">
                  <c:v>0.17977000000000001</c:v>
                </c:pt>
                <c:pt idx="2">
                  <c:v>0.17962500000000001</c:v>
                </c:pt>
                <c:pt idx="3">
                  <c:v>0.181704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933-4A63-8EF7-C5D47DBD47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안녕하세요. 쿠아이 8기 회장 나상현입니다. 반갑습니다.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그러면 쿠아이 8기 ot 시작 하겠습니다.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73dd5fef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72" name="Google Shape;72;g1173dd5fef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먼저 저희 쿠아이 소개부터 하겠습니다.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75b105b35_5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8" name="Google Shape;98;g1175b105b35_5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 쿠아이는 다양한 사람이 모여 인공지능으로 문제를 해결하자라는 슬로건을 가지고,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데이터, 인공지능의 지식 소통, 다양한 학습컨텐츠, 자료공유가 가능한 커뮤니티의 형성을 목표로 하는 학회입니다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55A985C-244B-1F8F-8621-414229AA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75b105b35_5_86:notes">
            <a:extLst>
              <a:ext uri="{FF2B5EF4-FFF2-40B4-BE49-F238E27FC236}">
                <a16:creationId xmlns:a16="http://schemas.microsoft.com/office/drawing/2014/main" id="{49870F3D-224C-77ED-3BCD-28B991DF7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8" name="Google Shape;98;g1175b105b35_5_86:notes">
            <a:extLst>
              <a:ext uri="{FF2B5EF4-FFF2-40B4-BE49-F238E27FC236}">
                <a16:creationId xmlns:a16="http://schemas.microsoft.com/office/drawing/2014/main" id="{9D2EC572-EEF9-08E8-A046-996BF1619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 쿠아이는 다양한 사람이 모여 인공지능으로 문제를 해결하자라는 슬로건을 가지고,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데이터, 인공지능의 지식 소통, 다양한 학습컨텐츠, 자료공유가 가능한 커뮤니티의 형성을 목표로 하는 학회입니다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8561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9A6C652-4788-32BD-0DA3-82FF26C0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75b105b35_5_86:notes">
            <a:extLst>
              <a:ext uri="{FF2B5EF4-FFF2-40B4-BE49-F238E27FC236}">
                <a16:creationId xmlns:a16="http://schemas.microsoft.com/office/drawing/2014/main" id="{D2866C68-C885-633E-F086-63F90B6A1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8" name="Google Shape;98;g1175b105b35_5_86:notes">
            <a:extLst>
              <a:ext uri="{FF2B5EF4-FFF2-40B4-BE49-F238E27FC236}">
                <a16:creationId xmlns:a16="http://schemas.microsoft.com/office/drawing/2014/main" id="{91A16F81-59DC-0ECE-3C3E-95DCC7E7F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 쿠아이는 다양한 사람이 모여 인공지능으로 문제를 해결하자라는 슬로건을 가지고,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데이터, 인공지능의 지식 소통, 다양한 학습컨텐츠, 자료공유가 가능한 커뮤니티의 형성을 목표로 하는 학회입니다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4190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B2BCCCA-BE28-B175-F299-093C2DB7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75b105b35_5_86:notes">
            <a:extLst>
              <a:ext uri="{FF2B5EF4-FFF2-40B4-BE49-F238E27FC236}">
                <a16:creationId xmlns:a16="http://schemas.microsoft.com/office/drawing/2014/main" id="{AA166FDE-790D-0E2A-5269-2C457E454F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8" name="Google Shape;98;g1175b105b35_5_86:notes">
            <a:extLst>
              <a:ext uri="{FF2B5EF4-FFF2-40B4-BE49-F238E27FC236}">
                <a16:creationId xmlns:a16="http://schemas.microsoft.com/office/drawing/2014/main" id="{A0736A2A-43C4-CA1D-9711-630E01DC8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 쿠아이는 다양한 사람이 모여 인공지능으로 문제를 해결하자라는 슬로건을 가지고,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데이터, 인공지능의 지식 소통, 다양한 학습컨텐츠, 자료공유가 가능한 커뮤니티의 형성을 목표로 하는 학회입니다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1622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7714C32-E40A-77C7-C105-CECB1221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75b105b35_5_86:notes">
            <a:extLst>
              <a:ext uri="{FF2B5EF4-FFF2-40B4-BE49-F238E27FC236}">
                <a16:creationId xmlns:a16="http://schemas.microsoft.com/office/drawing/2014/main" id="{E79292EA-00ED-80B0-680A-0ECFDEB61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8" name="Google Shape;98;g1175b105b35_5_86:notes">
            <a:extLst>
              <a:ext uri="{FF2B5EF4-FFF2-40B4-BE49-F238E27FC236}">
                <a16:creationId xmlns:a16="http://schemas.microsoft.com/office/drawing/2014/main" id="{8DBCFBAC-397C-9932-C8A4-390924152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 쿠아이는 다양한 사람이 모여 인공지능으로 문제를 해결하자라는 슬로건을 가지고,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데이터, 인공지능의 지식 소통, 다양한 학습컨텐츠, 자료공유가 가능한 커뮤니티의 형성을 목표로 하는 학회입니다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0870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E3E2019-616A-DAC2-DB5C-034C5C3F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75b105b35_5_86:notes">
            <a:extLst>
              <a:ext uri="{FF2B5EF4-FFF2-40B4-BE49-F238E27FC236}">
                <a16:creationId xmlns:a16="http://schemas.microsoft.com/office/drawing/2014/main" id="{7C006AC7-A4DF-D821-A5AA-16B7AADAE3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8" name="Google Shape;98;g1175b105b35_5_86:notes">
            <a:extLst>
              <a:ext uri="{FF2B5EF4-FFF2-40B4-BE49-F238E27FC236}">
                <a16:creationId xmlns:a16="http://schemas.microsoft.com/office/drawing/2014/main" id="{6292B337-4D28-A649-075F-1B9CD603F1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 쿠아이는 다양한 사람이 모여 인공지능으로 문제를 해결하자라는 슬로건을 가지고,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데이터, 인공지능의 지식 소통, 다양한 학습컨텐츠, 자료공유가 가능한 커뮤니티의 형성을 목표로 하는 학회입니다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8702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BB14116-8C23-723E-7ECF-89546526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75b105b35_5_86:notes">
            <a:extLst>
              <a:ext uri="{FF2B5EF4-FFF2-40B4-BE49-F238E27FC236}">
                <a16:creationId xmlns:a16="http://schemas.microsoft.com/office/drawing/2014/main" id="{A96485C8-ED04-38C7-80A3-1CD3EF41C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8" name="Google Shape;98;g1175b105b35_5_86:notes">
            <a:extLst>
              <a:ext uri="{FF2B5EF4-FFF2-40B4-BE49-F238E27FC236}">
                <a16:creationId xmlns:a16="http://schemas.microsoft.com/office/drawing/2014/main" id="{98C8A7B2-79AA-F6B0-A9A1-741BA6314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 쿠아이는 다양한 사람이 모여 인공지능으로 문제를 해결하자라는 슬로건을 가지고,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데이터, 인공지능의 지식 소통, 다양한 학습컨텐츠, 자료공유가 가능한 커뮤니티의 형성을 목표로 하는 학회입니다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7243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A9F129A-4944-B340-1D91-6338590B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75b105b35_5_86:notes">
            <a:extLst>
              <a:ext uri="{FF2B5EF4-FFF2-40B4-BE49-F238E27FC236}">
                <a16:creationId xmlns:a16="http://schemas.microsoft.com/office/drawing/2014/main" id="{04202FD3-F013-5870-94CA-BC77F8ECB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8" name="Google Shape;98;g1175b105b35_5_86:notes">
            <a:extLst>
              <a:ext uri="{FF2B5EF4-FFF2-40B4-BE49-F238E27FC236}">
                <a16:creationId xmlns:a16="http://schemas.microsoft.com/office/drawing/2014/main" id="{D693E9CB-764D-5852-A236-08C613C98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 쿠아이는 다양한 사람이 모여 인공지능으로 문제를 해결하자라는 슬로건을 가지고,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데이터, 인공지능의 지식 소통, 다양한 학습컨텐츠, 자료공유가 가능한 커뮤니티의 형성을 목표로 하는 학회입니다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65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7기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논문 발표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8기 마니또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\\home\oai\share\%EB%8D%B0%EC%9D%B4%ED%84%B0%ED%86%A4%205%ED%8C%80%20%EA%B3%B5%EC%9C%A0%20%EC%9E%90%EB%A3%8C.pdf#:~:text=%EB%8D%B0%EC%9D%B4%ED%84%B0%ED%86%A4%EC%9D%98%20%EB%AC%B8%EC%A0%9C%EB%8A%94%20%EC%9D%80%ED%96%89%20%EA%B3%84%EC%A2%8C%20%EA%B0%9C%EC%84%A4,%EA%B3%BC%EC%A0%95%EC%97%90%EC%84%9C%20%EC%9C%A0%EC%9D%98%ED%95%A0%20%EC%A0%90%EC%9D%84%20%EA%B0%84%EB%8B%A8%ED%95%98%EA%B2%8C%20%EC%84%9C%EC%88%A0%ED%95%98%EA%B2%A0%EC%8A%B5%EB%8B%88%EB%8B%A4" TargetMode="External"/><Relationship Id="rId4" Type="http://schemas.openxmlformats.org/officeDocument/2006/relationships/hyperlink" Target="file:///\\home\oai\share\%EB%8D%B0%EC%9D%B4%ED%84%B0%ED%86%A4%205%ED%8C%80%20%EA%B3%B5%EC%9C%A0%20%EC%9E%90%EB%A3%8C.pdf#:~:text=1,train%2Ftest%20%EB%B6%84%ED%8F%AC%EA%B0%80%20%EC%9C%A0%EC%82%AC%ED%95%98%EB%8B%A4%EB%8A%94%20%EC%A0%90%EB%8F%84%20%ED%99%95%EC%9D%B8%ED%95%98%EC%98%80%EC%8A%B5%EB%8B%88%EB%8B%A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1149650" y="3201300"/>
            <a:ext cx="203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>
                <a:solidFill>
                  <a:schemeClr val="lt1"/>
                </a:solidFill>
              </a:rPr>
              <a:t>2026.03.</a:t>
            </a:r>
            <a:r>
              <a:rPr lang="en-US" altLang="ko" sz="1200" dirty="0">
                <a:solidFill>
                  <a:schemeClr val="lt1"/>
                </a:solidFill>
              </a:rPr>
              <a:t>31</a:t>
            </a:r>
            <a:endParaRPr sz="1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" name="Google Shape;68;p13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13"/>
          <p:cNvSpPr txBox="1"/>
          <p:nvPr/>
        </p:nvSpPr>
        <p:spPr>
          <a:xfrm>
            <a:off x="1097875" y="2277900"/>
            <a:ext cx="85581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-KR" sz="2400" b="1" dirty="0">
                <a:solidFill>
                  <a:srgbClr val="FFFFFF"/>
                </a:solidFill>
              </a:rPr>
              <a:t>CUAI 2026 </a:t>
            </a:r>
            <a:r>
              <a:rPr lang="ko-KR" altLang="en-US" sz="2400" b="1" dirty="0">
                <a:solidFill>
                  <a:srgbClr val="FFFFFF"/>
                </a:solidFill>
              </a:rPr>
              <a:t>데이터톤 </a:t>
            </a:r>
            <a:r>
              <a:rPr lang="en-US" altLang="ko-KR" sz="2400" b="1" dirty="0">
                <a:solidFill>
                  <a:srgbClr val="FFFFFF"/>
                </a:solidFill>
              </a:rPr>
              <a:t>5</a:t>
            </a:r>
            <a:r>
              <a:rPr lang="ko-KR" altLang="en-US" sz="2400" b="1" dirty="0">
                <a:solidFill>
                  <a:srgbClr val="FFFFFF"/>
                </a:solidFill>
              </a:rPr>
              <a:t>팀  </a:t>
            </a:r>
            <a:r>
              <a:rPr lang="en-US" altLang="ko-KR" sz="2400" b="1" dirty="0">
                <a:solidFill>
                  <a:srgbClr val="FFFFFF"/>
                </a:solidFill>
              </a:rPr>
              <a:t>: </a:t>
            </a:r>
            <a:r>
              <a:rPr lang="ko-KR" altLang="en-US" sz="2400" b="1" dirty="0">
                <a:solidFill>
                  <a:srgbClr val="FFFFFF"/>
                </a:solidFill>
              </a:rPr>
              <a:t>은행 계좌 사기 탐지 </a:t>
            </a:r>
            <a:endParaRPr lang="ko-KR" altLang="en-US" sz="12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8" name="Google Shape;78;p14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" name="Google Shape;79;p14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" name="Google Shape;80;p14"/>
          <p:cNvSpPr txBox="1"/>
          <p:nvPr/>
        </p:nvSpPr>
        <p:spPr>
          <a:xfrm rot="5400000">
            <a:off x="-637425" y="654725"/>
            <a:ext cx="201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>
                <a:solidFill>
                  <a:schemeClr val="lt1"/>
                </a:solidFill>
                <a:latin typeface="Nanum Gothic"/>
                <a:ea typeface="Nanum Gothic"/>
                <a:cs typeface="Nanum Gothic"/>
                <a:sym typeface="Nanum Gothic"/>
              </a:rPr>
              <a:t>INDEX</a:t>
            </a:r>
            <a:endParaRPr sz="2800" b="1">
              <a:solidFill>
                <a:schemeClr val="lt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1269597" y="2369998"/>
            <a:ext cx="3623863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200" b="1" dirty="0">
              <a:solidFill>
                <a:srgbClr val="B7B7B7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200" b="1" dirty="0">
              <a:solidFill>
                <a:srgbClr val="B7B7B7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987775" y="1815875"/>
            <a:ext cx="2515500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992300" y="586375"/>
            <a:ext cx="400200" cy="400200"/>
          </a:xfrm>
          <a:prstGeom prst="ellipse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4623300" y="637225"/>
            <a:ext cx="294000" cy="294000"/>
          </a:xfrm>
          <a:prstGeom prst="ellipse">
            <a:avLst/>
          </a:prstGeom>
          <a:solidFill>
            <a:srgbClr val="5C75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7148075" y="637225"/>
            <a:ext cx="294000" cy="294000"/>
          </a:xfrm>
          <a:prstGeom prst="ellipse">
            <a:avLst/>
          </a:prstGeom>
          <a:solidFill>
            <a:srgbClr val="5C75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3" name="Google Shape;93;p14"/>
          <p:cNvCxnSpPr/>
          <p:nvPr/>
        </p:nvCxnSpPr>
        <p:spPr>
          <a:xfrm>
            <a:off x="5055138" y="781025"/>
            <a:ext cx="1955100" cy="0"/>
          </a:xfrm>
          <a:prstGeom prst="straightConnector1">
            <a:avLst/>
          </a:prstGeom>
          <a:noFill/>
          <a:ln w="28575" cap="flat" cmpd="sng">
            <a:solidFill>
              <a:srgbClr val="5C75BB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94" name="Google Shape;94;p14"/>
          <p:cNvCxnSpPr/>
          <p:nvPr/>
        </p:nvCxnSpPr>
        <p:spPr>
          <a:xfrm>
            <a:off x="2530350" y="786475"/>
            <a:ext cx="1955100" cy="0"/>
          </a:xfrm>
          <a:prstGeom prst="straightConnector1">
            <a:avLst/>
          </a:prstGeom>
          <a:noFill/>
          <a:ln w="28575" cap="flat" cmpd="sng">
            <a:solidFill>
              <a:srgbClr val="5C75BB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BE907EA8-E453-D3BA-BEFC-98E1CFDF6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3962" y="1684198"/>
            <a:ext cx="274320" cy="274320"/>
          </a:xfrm>
          <a:prstGeom prst="rect">
            <a:avLst/>
          </a:prstGeom>
        </p:spPr>
      </p:pic>
      <p:sp>
        <p:nvSpPr>
          <p:cNvPr id="65" name="Text 2">
            <a:extLst>
              <a:ext uri="{FF2B5EF4-FFF2-40B4-BE49-F238E27FC236}">
                <a16:creationId xmlns:a16="http://schemas.microsoft.com/office/drawing/2014/main" id="{9DEF6E34-682E-4B8E-2574-ACCD1378A141}"/>
              </a:ext>
            </a:extLst>
          </p:cNvPr>
          <p:cNvSpPr/>
          <p:nvPr/>
        </p:nvSpPr>
        <p:spPr>
          <a:xfrm>
            <a:off x="1901162" y="168419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문제 정의 &amp; 데이터</a:t>
            </a:r>
            <a:endParaRPr lang="en-US" sz="1600" dirty="0"/>
          </a:p>
        </p:txBody>
      </p:sp>
      <p:pic>
        <p:nvPicPr>
          <p:cNvPr id="66" name="Image 1" descr="preencoded.png">
            <a:extLst>
              <a:ext uri="{FF2B5EF4-FFF2-40B4-BE49-F238E27FC236}">
                <a16:creationId xmlns:a16="http://schemas.microsoft.com/office/drawing/2014/main" id="{11B6AE3F-C245-AA7F-D787-96B7A78C4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3962" y="2095678"/>
            <a:ext cx="274320" cy="274320"/>
          </a:xfrm>
          <a:prstGeom prst="rect">
            <a:avLst/>
          </a:prstGeom>
        </p:spPr>
      </p:pic>
      <p:sp>
        <p:nvSpPr>
          <p:cNvPr id="67" name="Text 3">
            <a:extLst>
              <a:ext uri="{FF2B5EF4-FFF2-40B4-BE49-F238E27FC236}">
                <a16:creationId xmlns:a16="http://schemas.microsoft.com/office/drawing/2014/main" id="{4E11FE2E-770A-D7EF-022D-595A02D4A600}"/>
              </a:ext>
            </a:extLst>
          </p:cNvPr>
          <p:cNvSpPr/>
          <p:nvPr/>
        </p:nvSpPr>
        <p:spPr>
          <a:xfrm>
            <a:off x="1901162" y="209567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030A18"/>
                </a:solidFill>
              </a:rPr>
              <a:t>베이스라인</a:t>
            </a:r>
            <a:r>
              <a:rPr lang="en-US" sz="1600" dirty="0">
                <a:solidFill>
                  <a:srgbClr val="030A18"/>
                </a:solidFill>
              </a:rPr>
              <a:t> </a:t>
            </a:r>
            <a:r>
              <a:rPr lang="en-US" sz="1600" dirty="0" err="1">
                <a:solidFill>
                  <a:srgbClr val="030A18"/>
                </a:solidFill>
              </a:rPr>
              <a:t>모델</a:t>
            </a:r>
            <a:endParaRPr lang="en-US" sz="1600" dirty="0"/>
          </a:p>
        </p:txBody>
      </p:sp>
      <p:pic>
        <p:nvPicPr>
          <p:cNvPr id="68" name="Image 2" descr="preencoded.png">
            <a:extLst>
              <a:ext uri="{FF2B5EF4-FFF2-40B4-BE49-F238E27FC236}">
                <a16:creationId xmlns:a16="http://schemas.microsoft.com/office/drawing/2014/main" id="{7F325E2A-82B1-67A6-11F8-5339D47F2B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3962" y="2507158"/>
            <a:ext cx="274320" cy="274320"/>
          </a:xfrm>
          <a:prstGeom prst="rect">
            <a:avLst/>
          </a:prstGeom>
        </p:spPr>
      </p:pic>
      <p:sp>
        <p:nvSpPr>
          <p:cNvPr id="69" name="Text 4">
            <a:extLst>
              <a:ext uri="{FF2B5EF4-FFF2-40B4-BE49-F238E27FC236}">
                <a16:creationId xmlns:a16="http://schemas.microsoft.com/office/drawing/2014/main" id="{74D75919-B50E-CF8D-2BC3-805A04CED03F}"/>
              </a:ext>
            </a:extLst>
          </p:cNvPr>
          <p:cNvSpPr/>
          <p:nvPr/>
        </p:nvSpPr>
        <p:spPr>
          <a:xfrm>
            <a:off x="1901162" y="25071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/>
              <a:t>모델</a:t>
            </a:r>
            <a:r>
              <a:rPr lang="en-US" dirty="0"/>
              <a:t> ZOO &amp; </a:t>
            </a:r>
            <a:r>
              <a:rPr lang="en-US" dirty="0" err="1"/>
              <a:t>앙상블</a:t>
            </a:r>
            <a:endParaRPr lang="en-US" dirty="0"/>
          </a:p>
        </p:txBody>
      </p:sp>
      <p:pic>
        <p:nvPicPr>
          <p:cNvPr id="70" name="Image 3" descr="preencoded.png">
            <a:extLst>
              <a:ext uri="{FF2B5EF4-FFF2-40B4-BE49-F238E27FC236}">
                <a16:creationId xmlns:a16="http://schemas.microsoft.com/office/drawing/2014/main" id="{93F05BCE-798F-E735-5411-F5B13CC765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3962" y="2918638"/>
            <a:ext cx="274320" cy="274320"/>
          </a:xfrm>
          <a:prstGeom prst="rect">
            <a:avLst/>
          </a:prstGeom>
        </p:spPr>
      </p:pic>
      <p:sp>
        <p:nvSpPr>
          <p:cNvPr id="71" name="Text 5">
            <a:extLst>
              <a:ext uri="{FF2B5EF4-FFF2-40B4-BE49-F238E27FC236}">
                <a16:creationId xmlns:a16="http://schemas.microsoft.com/office/drawing/2014/main" id="{A0367E42-1FBC-312C-DC00-7FE64828CE44}"/>
              </a:ext>
            </a:extLst>
          </p:cNvPr>
          <p:cNvSpPr/>
          <p:nvPr/>
        </p:nvSpPr>
        <p:spPr>
          <a:xfrm>
            <a:off x="1901162" y="291863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핵심 </a:t>
            </a:r>
            <a:r>
              <a:rPr lang="en-US" dirty="0" err="1"/>
              <a:t>개선</a:t>
            </a:r>
            <a:r>
              <a:rPr lang="en-US" dirty="0"/>
              <a:t> </a:t>
            </a:r>
            <a:r>
              <a:rPr lang="en-US" dirty="0" err="1"/>
              <a:t>사항</a:t>
            </a:r>
            <a:endParaRPr lang="en-US" dirty="0"/>
          </a:p>
        </p:txBody>
      </p:sp>
      <p:pic>
        <p:nvPicPr>
          <p:cNvPr id="72" name="Image 4" descr="preencoded.png">
            <a:extLst>
              <a:ext uri="{FF2B5EF4-FFF2-40B4-BE49-F238E27FC236}">
                <a16:creationId xmlns:a16="http://schemas.microsoft.com/office/drawing/2014/main" id="{6E793839-8F4B-1066-0B1D-B83D6B65A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3962" y="3330118"/>
            <a:ext cx="274320" cy="274320"/>
          </a:xfrm>
          <a:prstGeom prst="rect">
            <a:avLst/>
          </a:prstGeom>
        </p:spPr>
      </p:pic>
      <p:sp>
        <p:nvSpPr>
          <p:cNvPr id="73" name="Text 6">
            <a:extLst>
              <a:ext uri="{FF2B5EF4-FFF2-40B4-BE49-F238E27FC236}">
                <a16:creationId xmlns:a16="http://schemas.microsoft.com/office/drawing/2014/main" id="{DD382C1E-58AD-837A-B224-7E0D92C3C921}"/>
              </a:ext>
            </a:extLst>
          </p:cNvPr>
          <p:cNvSpPr/>
          <p:nvPr/>
        </p:nvSpPr>
        <p:spPr>
          <a:xfrm>
            <a:off x="1901162" y="333011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결과 및 결론</a:t>
            </a:r>
            <a:endParaRPr lang="en-US" sz="1600" dirty="0"/>
          </a:p>
        </p:txBody>
      </p:sp>
      <p:sp>
        <p:nvSpPr>
          <p:cNvPr id="86" name="Text 7">
            <a:extLst>
              <a:ext uri="{FF2B5EF4-FFF2-40B4-BE49-F238E27FC236}">
                <a16:creationId xmlns:a16="http://schemas.microsoft.com/office/drawing/2014/main" id="{5A7B8564-B83C-AE37-03CE-B3816CD840CE}"/>
              </a:ext>
            </a:extLst>
          </p:cNvPr>
          <p:cNvSpPr/>
          <p:nvPr/>
        </p:nvSpPr>
        <p:spPr>
          <a:xfrm>
            <a:off x="1901162" y="374159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15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5"/>
          <p:cNvSpPr/>
          <p:nvPr/>
        </p:nvSpPr>
        <p:spPr>
          <a:xfrm>
            <a:off x="111530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400423" y="616375"/>
            <a:ext cx="5743903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ko-KR" altLang="en-US" sz="2400" b="1" dirty="0"/>
              <a:t>문제 정의 </a:t>
            </a:r>
            <a:r>
              <a:rPr lang="en-US" altLang="ko-KR" sz="2400" b="1" dirty="0"/>
              <a:t>&amp; </a:t>
            </a:r>
            <a:r>
              <a:rPr lang="ko-KR" altLang="en-US" sz="2400" b="1" dirty="0"/>
              <a:t>데이터</a:t>
            </a:r>
            <a:endParaRPr sz="2200" b="1"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328857" y="1170343"/>
            <a:ext cx="6819161" cy="187740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altLang="ko-KR" sz="2000" b="1" dirty="0">
                <a:solidFill>
                  <a:srgbClr val="030A18"/>
                </a:solidFill>
              </a:rPr>
              <a:t>100만 </a:t>
            </a:r>
            <a:r>
              <a:rPr lang="en-US" altLang="ko-KR" sz="2000" b="1" dirty="0" err="1">
                <a:solidFill>
                  <a:srgbClr val="030A18"/>
                </a:solidFill>
              </a:rPr>
              <a:t>건의</a:t>
            </a:r>
            <a:r>
              <a:rPr lang="en-US" altLang="ko-KR" sz="2000" b="1" dirty="0">
                <a:solidFill>
                  <a:srgbClr val="030A18"/>
                </a:solidFill>
              </a:rPr>
              <a:t> </a:t>
            </a:r>
            <a:r>
              <a:rPr lang="en-US" altLang="ko-KR" sz="2000" b="1" dirty="0" err="1">
                <a:solidFill>
                  <a:srgbClr val="030A18"/>
                </a:solidFill>
              </a:rPr>
              <a:t>계좌</a:t>
            </a:r>
            <a:r>
              <a:rPr lang="en-US" altLang="ko-KR" sz="2000" b="1" dirty="0">
                <a:solidFill>
                  <a:srgbClr val="030A18"/>
                </a:solidFill>
              </a:rPr>
              <a:t> </a:t>
            </a:r>
            <a:r>
              <a:rPr lang="en-US" altLang="ko-KR" sz="2000" b="1" dirty="0" err="1">
                <a:solidFill>
                  <a:srgbClr val="030A18"/>
                </a:solidFill>
              </a:rPr>
              <a:t>개설</a:t>
            </a:r>
            <a:r>
              <a:rPr lang="en-US" altLang="ko-KR" sz="2000" b="1" dirty="0">
                <a:solidFill>
                  <a:srgbClr val="030A18"/>
                </a:solidFill>
              </a:rPr>
              <a:t> </a:t>
            </a:r>
            <a:r>
              <a:rPr lang="en-US" altLang="ko-KR" sz="2000" b="1" dirty="0" err="1">
                <a:solidFill>
                  <a:srgbClr val="030A18"/>
                </a:solidFill>
              </a:rPr>
              <a:t>신청에서</a:t>
            </a:r>
            <a:r>
              <a:rPr lang="en-US" altLang="ko-KR" sz="2000" b="1" dirty="0">
                <a:solidFill>
                  <a:srgbClr val="030A18"/>
                </a:solidFill>
              </a:rPr>
              <a:t> </a:t>
            </a:r>
            <a:r>
              <a:rPr lang="en-US" altLang="ko-KR" sz="2000" b="1" dirty="0" err="1">
                <a:solidFill>
                  <a:srgbClr val="030A18"/>
                </a:solidFill>
              </a:rPr>
              <a:t>사기</a:t>
            </a:r>
            <a:r>
              <a:rPr lang="en-US" altLang="ko-KR" sz="2000" b="1" dirty="0">
                <a:solidFill>
                  <a:srgbClr val="030A18"/>
                </a:solidFill>
              </a:rPr>
              <a:t> </a:t>
            </a:r>
            <a:r>
              <a:rPr lang="en-US" altLang="ko-KR" sz="2000" b="1" dirty="0" err="1">
                <a:solidFill>
                  <a:srgbClr val="030A18"/>
                </a:solidFill>
              </a:rPr>
              <a:t>여부</a:t>
            </a:r>
            <a:r>
              <a:rPr lang="en-US" altLang="ko-KR" sz="2000" b="1" dirty="0">
                <a:solidFill>
                  <a:srgbClr val="030A18"/>
                </a:solidFill>
              </a:rPr>
              <a:t> </a:t>
            </a:r>
            <a:r>
              <a:rPr lang="en-US" altLang="ko-KR" sz="2000" b="1" dirty="0" err="1">
                <a:solidFill>
                  <a:srgbClr val="030A18"/>
                </a:solidFill>
              </a:rPr>
              <a:t>예측</a:t>
            </a:r>
            <a:endParaRPr lang="en-US" altLang="ko-KR" sz="2000" b="1" dirty="0">
              <a:solidFill>
                <a:srgbClr val="030A18"/>
              </a:solidFill>
            </a:endParaRPr>
          </a:p>
          <a:p>
            <a:endParaRPr lang="en-US" altLang="ko-KR" sz="2000" b="1" dirty="0">
              <a:solidFill>
                <a:srgbClr val="030A18"/>
              </a:solidFill>
            </a:endParaRP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30A18"/>
                </a:solidFill>
              </a:rPr>
              <a:t>Train: 70만, Test: 30만
Fraud </a:t>
            </a:r>
            <a:r>
              <a:rPr lang="en-US" altLang="ko-KR" dirty="0" err="1">
                <a:solidFill>
                  <a:srgbClr val="030A18"/>
                </a:solidFill>
              </a:rPr>
              <a:t>비율</a:t>
            </a:r>
            <a:r>
              <a:rPr lang="en-US" altLang="ko-KR" dirty="0">
                <a:solidFill>
                  <a:srgbClr val="030A18"/>
                </a:solidFill>
              </a:rPr>
              <a:t>: 1.09% (7,642/700,000) &lt;</a:t>
            </a:r>
            <a:r>
              <a:rPr lang="ko-KR" altLang="en-US" dirty="0">
                <a:solidFill>
                  <a:srgbClr val="030A18"/>
                </a:solidFill>
              </a:rPr>
              <a:t>클래스 불균형 심함</a:t>
            </a:r>
            <a:r>
              <a:rPr lang="en-US" altLang="ko-KR" dirty="0">
                <a:solidFill>
                  <a:srgbClr val="030A18"/>
                </a:solidFill>
              </a:rPr>
              <a:t>&gt;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ko-KR" altLang="ko-KR" dirty="0"/>
              <a:t>평가 지표는 </a:t>
            </a:r>
            <a:r>
              <a:rPr lang="en-US" altLang="ko-KR" dirty="0"/>
              <a:t>Average Precision (AP)</a:t>
            </a:r>
          </a:p>
          <a:p>
            <a:pPr lvl="6"/>
            <a:r>
              <a:rPr lang="en-US" altLang="ko-KR" dirty="0"/>
              <a:t>        =&gt;</a:t>
            </a:r>
            <a:r>
              <a:rPr lang="ko-KR" altLang="ko-KR" dirty="0"/>
              <a:t>흔히 아는 정확도가 아니라</a:t>
            </a:r>
            <a:r>
              <a:rPr lang="en-US" altLang="ko-KR" dirty="0"/>
              <a:t>, </a:t>
            </a:r>
            <a:r>
              <a:rPr lang="ko-KR" altLang="ko-KR" dirty="0"/>
              <a:t>순위의 품질을 측정</a:t>
            </a:r>
            <a:endParaRPr lang="en-US" altLang="ko-KR" dirty="0"/>
          </a:p>
          <a:p>
            <a:pPr lvl="6"/>
            <a:r>
              <a:rPr lang="en-US" altLang="ko-KR" dirty="0"/>
              <a:t>        =&gt;fraud</a:t>
            </a:r>
            <a:r>
              <a:rPr lang="ko-KR" altLang="en-US" dirty="0"/>
              <a:t>확률로</a:t>
            </a:r>
            <a:r>
              <a:rPr lang="en-US" altLang="ko-KR" dirty="0"/>
              <a:t> </a:t>
            </a:r>
            <a:r>
              <a:rPr lang="ko-KR" altLang="en-US" dirty="0" err="1"/>
              <a:t>줄세워서</a:t>
            </a:r>
            <a:r>
              <a:rPr lang="ko-KR" altLang="en-US" dirty="0"/>
              <a:t> </a:t>
            </a:r>
            <a:r>
              <a:rPr lang="en-US" altLang="ko-KR" dirty="0"/>
              <a:t>test </a:t>
            </a:r>
            <a:r>
              <a:rPr lang="ko-KR" altLang="en-US" dirty="0"/>
              <a:t>데이터에 </a:t>
            </a:r>
            <a:r>
              <a:rPr lang="en-US" altLang="ko-KR" dirty="0"/>
              <a:t>fraud</a:t>
            </a:r>
            <a:r>
              <a:rPr lang="ko-KR" altLang="en-US" dirty="0"/>
              <a:t> 계좌가 얼마나 </a:t>
            </a:r>
            <a:r>
              <a:rPr lang="ko-KR" altLang="en-US" dirty="0" err="1"/>
              <a:t>몰려있는지</a:t>
            </a:r>
            <a:endParaRPr lang="en-US" altLang="ko-KR"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146900" y="211800"/>
            <a:ext cx="9684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chemeClr val="lt1"/>
                </a:solidFill>
                <a:latin typeface="Nanum Gothic"/>
                <a:ea typeface="Nanum Gothic"/>
                <a:cs typeface="Nanum Gothic"/>
                <a:sym typeface="Nanum Gothic"/>
              </a:rPr>
              <a:t>문제 정의 </a:t>
            </a:r>
            <a:r>
              <a:rPr lang="en-US" altLang="ko-KR" sz="900" b="1" dirty="0">
                <a:solidFill>
                  <a:schemeClr val="lt1"/>
                </a:solidFill>
                <a:latin typeface="Nanum Gothic"/>
                <a:ea typeface="Nanum Gothic"/>
                <a:cs typeface="Nanum Gothic"/>
                <a:sym typeface="Nanum Gothic"/>
              </a:rPr>
              <a:t>&amp; </a:t>
            </a:r>
            <a:r>
              <a:rPr lang="ko-KR" altLang="en-US" sz="900" b="1" dirty="0">
                <a:solidFill>
                  <a:schemeClr val="lt1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</a:t>
            </a:r>
            <a:endParaRPr lang="en-US" altLang="ko-KR" sz="900" b="1" dirty="0">
              <a:solidFill>
                <a:schemeClr val="lt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2" name="Chart 0">
            <a:extLst>
              <a:ext uri="{FF2B5EF4-FFF2-40B4-BE49-F238E27FC236}">
                <a16:creationId xmlns:a16="http://schemas.microsoft.com/office/drawing/2014/main" id="{E7BFC33C-70BD-C478-F839-60B47F247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901420"/>
              </p:ext>
            </p:extLst>
          </p:nvPr>
        </p:nvGraphicFramePr>
        <p:xfrm>
          <a:off x="3149764" y="2901189"/>
          <a:ext cx="2535218" cy="1952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8BF1EAA6-8BEE-655E-72B1-8A7D47D8A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>
            <a:extLst>
              <a:ext uri="{FF2B5EF4-FFF2-40B4-BE49-F238E27FC236}">
                <a16:creationId xmlns:a16="http://schemas.microsoft.com/office/drawing/2014/main" id="{B696E478-C18E-E8D1-FF8B-9AC698042F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35896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28C98F6D-19A6-E36F-61A8-7CD4177CDC4C}"/>
              </a:ext>
            </a:extLst>
          </p:cNvPr>
          <p:cNvSpPr/>
          <p:nvPr/>
        </p:nvSpPr>
        <p:spPr>
          <a:xfrm>
            <a:off x="8699079" y="1354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230E7DF3-F684-68AD-6A47-3566457D4548}"/>
              </a:ext>
            </a:extLst>
          </p:cNvPr>
          <p:cNvSpPr/>
          <p:nvPr/>
        </p:nvSpPr>
        <p:spPr>
          <a:xfrm>
            <a:off x="8699079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E70626B8-FFD4-05D1-EA7F-EC99B1507563}"/>
              </a:ext>
            </a:extLst>
          </p:cNvPr>
          <p:cNvSpPr/>
          <p:nvPr/>
        </p:nvSpPr>
        <p:spPr>
          <a:xfrm>
            <a:off x="8699079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15">
            <a:extLst>
              <a:ext uri="{FF2B5EF4-FFF2-40B4-BE49-F238E27FC236}">
                <a16:creationId xmlns:a16="http://schemas.microsoft.com/office/drawing/2014/main" id="{F382114A-431E-298B-B51E-97CEA566CB34}"/>
              </a:ext>
            </a:extLst>
          </p:cNvPr>
          <p:cNvCxnSpPr/>
          <p:nvPr/>
        </p:nvCxnSpPr>
        <p:spPr>
          <a:xfrm rot="10800000">
            <a:off x="160754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F3113A00-3DDF-5CE5-E576-958BF88180FE}"/>
              </a:ext>
            </a:extLst>
          </p:cNvPr>
          <p:cNvSpPr/>
          <p:nvPr/>
        </p:nvSpPr>
        <p:spPr>
          <a:xfrm>
            <a:off x="1129154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B5B59582-2E2A-337A-FFD6-D3E7B674D7B4}"/>
              </a:ext>
            </a:extLst>
          </p:cNvPr>
          <p:cNvSpPr txBox="1"/>
          <p:nvPr/>
        </p:nvSpPr>
        <p:spPr>
          <a:xfrm>
            <a:off x="1483429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405C87AF-3AD8-3C92-C380-DA1F5696B6E8}"/>
              </a:ext>
            </a:extLst>
          </p:cNvPr>
          <p:cNvSpPr txBox="1"/>
          <p:nvPr/>
        </p:nvSpPr>
        <p:spPr>
          <a:xfrm>
            <a:off x="1414277" y="616375"/>
            <a:ext cx="5743903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sz="2800" b="1">
                <a:solidFill>
                  <a:srgbClr val="0D1E4E"/>
                </a:solidFill>
              </a:rPr>
              <a:t>데이터 포맷 &amp; 전처리</a:t>
            </a:r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CDE24D48-3B38-6BA8-65DC-88CC1379EF61}"/>
              </a:ext>
            </a:extLst>
          </p:cNvPr>
          <p:cNvSpPr txBox="1"/>
          <p:nvPr/>
        </p:nvSpPr>
        <p:spPr>
          <a:xfrm>
            <a:off x="1342711" y="1170343"/>
            <a:ext cx="6819161" cy="49241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sz="1800" dirty="0">
                <a:solidFill>
                  <a:srgbClr val="0D1E4E"/>
                </a:solidFill>
              </a:rPr>
              <a:t>Feature &amp; Preprocessing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85452" y="2011680"/>
            <a:ext cx="7164201" cy="1868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0D1E4E"/>
                </a:solidFill>
              </a:defRPr>
            </a:pPr>
            <a:r>
              <a:rPr lang="en-US" altLang="ko-KR" sz="1300" dirty="0" err="1"/>
              <a:t>device_fraud_history</a:t>
            </a:r>
            <a:r>
              <a:rPr lang="ko-KR" altLang="en-US" sz="1300" dirty="0"/>
              <a:t>는 값이 전부 </a:t>
            </a:r>
            <a:r>
              <a:rPr lang="en-US" altLang="ko-KR" sz="1300" dirty="0"/>
              <a:t>0</a:t>
            </a:r>
            <a:r>
              <a:rPr lang="ko-KR" altLang="en-US" sz="1300" dirty="0"/>
              <a:t>이라 정보가 없다고 판단해 제거</a:t>
            </a:r>
            <a:r>
              <a:rPr lang="en-US" altLang="ko-KR" sz="1300" dirty="0"/>
              <a:t>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0D1E4E"/>
                </a:solidFill>
              </a:defRPr>
            </a:pPr>
            <a:r>
              <a:rPr lang="en-US" altLang="ko-KR" sz="1300" dirty="0"/>
              <a:t>source</a:t>
            </a:r>
            <a:r>
              <a:rPr lang="ko-KR" altLang="en-US" sz="1300" dirty="0"/>
              <a:t>와 </a:t>
            </a:r>
            <a:r>
              <a:rPr lang="en-US" altLang="ko-KR" sz="1300" dirty="0"/>
              <a:t>month(</a:t>
            </a:r>
            <a:r>
              <a:rPr lang="ko-KR" altLang="en-US" sz="1300" dirty="0"/>
              <a:t>혹은 </a:t>
            </a:r>
            <a:r>
              <a:rPr lang="en-US" altLang="ko-KR" sz="1300" dirty="0" err="1"/>
              <a:t>month_idx</a:t>
            </a:r>
            <a:r>
              <a:rPr lang="en-US" altLang="ko-KR" sz="1300" dirty="0"/>
              <a:t>) </a:t>
            </a:r>
            <a:r>
              <a:rPr lang="ko-KR" altLang="en-US" sz="1300" dirty="0"/>
              <a:t>컬럼은 모델 성능에 기여하지 않아 제외</a:t>
            </a:r>
            <a:endParaRPr lang="en-US" altLang="ko-KR" sz="13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0D1E4E"/>
                </a:solidFill>
              </a:defRPr>
            </a:pPr>
            <a:r>
              <a:rPr lang="en-US" altLang="ko-KR" sz="1300" dirty="0"/>
              <a:t>-1 </a:t>
            </a:r>
            <a:r>
              <a:rPr lang="ko-KR" altLang="en-US" sz="1300" dirty="0"/>
              <a:t>값은 </a:t>
            </a:r>
            <a:r>
              <a:rPr lang="ko-KR" altLang="en-US" sz="1300" dirty="0" err="1"/>
              <a:t>결측치의</a:t>
            </a:r>
            <a:r>
              <a:rPr lang="ko-KR" altLang="en-US" sz="1300" dirty="0"/>
              <a:t> </a:t>
            </a:r>
            <a:r>
              <a:rPr lang="ko-KR" altLang="en-US" sz="1300" dirty="0" err="1"/>
              <a:t>대리값으로</a:t>
            </a:r>
            <a:r>
              <a:rPr lang="ko-KR" altLang="en-US" sz="1300" dirty="0"/>
              <a:t> 판단하여 모델이 처리하도록 유지</a:t>
            </a:r>
            <a:endParaRPr lang="en-US" altLang="ko-KR" sz="13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0D1E4E"/>
                </a:solidFill>
              </a:defRPr>
            </a:pPr>
            <a:r>
              <a:rPr lang="en-US" altLang="ko-KR" sz="1300" dirty="0"/>
              <a:t>29</a:t>
            </a:r>
            <a:r>
              <a:rPr lang="ko-KR" altLang="en-US" sz="1300" dirty="0"/>
              <a:t>개 피처가 사용 </a:t>
            </a:r>
            <a:r>
              <a:rPr lang="en-US" altLang="ko-KR" sz="1300" dirty="0"/>
              <a:t>-&gt; </a:t>
            </a:r>
            <a:r>
              <a:rPr lang="ko-KR" altLang="en-US" sz="1300" dirty="0"/>
              <a:t>숫자형 </a:t>
            </a:r>
            <a:r>
              <a:rPr lang="en-US" altLang="ko-KR" sz="1300" dirty="0"/>
              <a:t>16</a:t>
            </a:r>
            <a:r>
              <a:rPr lang="ko-KR" altLang="en-US" sz="1300" dirty="0"/>
              <a:t>개</a:t>
            </a:r>
            <a:r>
              <a:rPr lang="en-US" altLang="ko-KR" sz="1300" dirty="0"/>
              <a:t>, </a:t>
            </a:r>
            <a:r>
              <a:rPr lang="ko-KR" altLang="en-US" sz="1300" dirty="0"/>
              <a:t>범주형 </a:t>
            </a:r>
            <a:r>
              <a:rPr lang="en-US" altLang="ko-KR" sz="1300" dirty="0"/>
              <a:t>13</a:t>
            </a:r>
            <a:r>
              <a:rPr lang="ko-KR" altLang="en-US" sz="1300" dirty="0"/>
              <a:t>개</a:t>
            </a:r>
            <a:endParaRPr lang="ko-KR" altLang="ko-KR" sz="20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0D1E4E"/>
                </a:solidFill>
              </a:defRPr>
            </a:pPr>
            <a:r>
              <a:rPr lang="en-US" altLang="ko-KR" sz="1300" dirty="0"/>
              <a:t>Adversarial Validation AUC = 0.5011 </a:t>
            </a:r>
            <a:r>
              <a:rPr lang="ko-KR" altLang="ko-KR" sz="1300" dirty="0"/>
              <a:t>로</a:t>
            </a:r>
            <a:r>
              <a:rPr lang="en-US" altLang="ko-KR" sz="1300" dirty="0"/>
              <a:t>, train/test </a:t>
            </a:r>
            <a:r>
              <a:rPr lang="ko-KR" altLang="ko-KR" sz="1300" dirty="0"/>
              <a:t>분포가 유사하다는 점도 확인</a:t>
            </a:r>
            <a:r>
              <a:rPr lang="en-US" altLang="ko-KR" sz="1300" dirty="0"/>
              <a:t> (</a:t>
            </a:r>
            <a:r>
              <a:rPr lang="ko-KR" altLang="en-US" sz="1300" dirty="0"/>
              <a:t>그대로 학습</a:t>
            </a:r>
            <a:r>
              <a:rPr lang="en-US" altLang="ko-KR" sz="1300" dirty="0"/>
              <a:t>) </a:t>
            </a:r>
          </a:p>
          <a:p>
            <a:pPr>
              <a:lnSpc>
                <a:spcPct val="120000"/>
              </a:lnSpc>
              <a:defRPr sz="1300">
                <a:solidFill>
                  <a:srgbClr val="0D1E4E"/>
                </a:solidFill>
              </a:defRPr>
            </a:pPr>
            <a:endParaRPr lang="en-US" altLang="ko-KR" sz="2000" dirty="0"/>
          </a:p>
        </p:txBody>
      </p:sp>
      <p:sp>
        <p:nvSpPr>
          <p:cNvPr id="111" name="TextBox 110"/>
          <p:cNvSpPr txBox="1"/>
          <p:nvPr/>
        </p:nvSpPr>
        <p:spPr>
          <a:xfrm>
            <a:off x="1385454" y="45720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700">
                <a:solidFill>
                  <a:srgbClr val="666666"/>
                </a:solidFill>
              </a:defRPr>
            </a:pPr>
            <a:r>
              <a:rPr sz="700" u="sng">
                <a:solidFill>
                  <a:srgbClr val="0055FF"/>
                </a:solidFill>
                <a:hlinkClick r:id="rId4"/>
              </a:rPr>
              <a:t>[3]</a:t>
            </a:r>
            <a:r>
              <a:rPr sz="700"/>
              <a:t> </a:t>
            </a:r>
            <a:r>
              <a:rPr sz="700" u="sng">
                <a:solidFill>
                  <a:srgbClr val="0055FF"/>
                </a:solidFill>
                <a:hlinkClick r:id="rId5"/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600752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98F78BF0-0982-9E0B-5798-4286EA441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>
            <a:extLst>
              <a:ext uri="{FF2B5EF4-FFF2-40B4-BE49-F238E27FC236}">
                <a16:creationId xmlns:a16="http://schemas.microsoft.com/office/drawing/2014/main" id="{7548058F-FF4E-F4FB-7D99-6EC851D9D13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F0016372-57C7-C027-36E2-F39F4B48A155}"/>
              </a:ext>
            </a:extLst>
          </p:cNvPr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AD76D1FB-DCF9-BE9A-F1EA-BB51B8F809A0}"/>
              </a:ext>
            </a:extLst>
          </p:cNvPr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6ECBA84D-3C64-2066-E640-E06B7827FA89}"/>
              </a:ext>
            </a:extLst>
          </p:cNvPr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15">
            <a:extLst>
              <a:ext uri="{FF2B5EF4-FFF2-40B4-BE49-F238E27FC236}">
                <a16:creationId xmlns:a16="http://schemas.microsoft.com/office/drawing/2014/main" id="{88EE7220-077E-64BE-C3EB-E22010178FBF}"/>
              </a:ext>
            </a:extLst>
          </p:cNvPr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605AD1BC-2433-0D78-E951-EAE143744EB7}"/>
              </a:ext>
            </a:extLst>
          </p:cNvPr>
          <p:cNvSpPr/>
          <p:nvPr/>
        </p:nvSpPr>
        <p:spPr>
          <a:xfrm>
            <a:off x="111530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주력 모델</a:t>
            </a:r>
            <a:r>
              <a:rPr lang="ko-KR" altLang="en-US" dirty="0"/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XGBoost</a:t>
            </a:r>
            <a:r>
              <a:rPr lang="en-US" altLang="ko-KR" dirty="0"/>
              <a:t>, </a:t>
            </a:r>
            <a:r>
              <a:rPr lang="en-US" altLang="ko-KR" dirty="0" err="1"/>
              <a:t>CatBoost</a:t>
            </a:r>
            <a:r>
              <a:rPr lang="en-US" altLang="ko-KR" dirty="0"/>
              <a:t> (</a:t>
            </a:r>
            <a:r>
              <a:rPr lang="ko-KR" altLang="en-US" dirty="0"/>
              <a:t>트리 기반 </a:t>
            </a:r>
            <a:r>
              <a:rPr lang="en-US" altLang="ko-KR" dirty="0"/>
              <a:t>Gradient Boosting) </a:t>
            </a:r>
          </a:p>
          <a:p>
            <a:endParaRPr lang="en-US" altLang="ko-KR" b="1" dirty="0"/>
          </a:p>
          <a:p>
            <a:r>
              <a:rPr lang="en-US" altLang="ko-KR" b="1" dirty="0"/>
              <a:t>Gradient Boosting </a:t>
            </a:r>
            <a:r>
              <a:rPr lang="ko-KR" altLang="en-US" b="1" dirty="0"/>
              <a:t>개념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이전 트리의 </a:t>
            </a:r>
            <a:r>
              <a:rPr lang="ko-KR" altLang="en-US" b="1" dirty="0"/>
              <a:t>오류를 보완하며 순차적으로 학습</a:t>
            </a:r>
            <a:r>
              <a:rPr lang="ko-KR" alt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어려운 샘플</a:t>
            </a:r>
            <a:r>
              <a:rPr lang="en-US" altLang="ko-KR" dirty="0"/>
              <a:t>(= fraud)</a:t>
            </a:r>
            <a:r>
              <a:rPr lang="ko-KR" altLang="en-US" dirty="0"/>
              <a:t>에 점점 더 집중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다양한 구조의 모델을 비교하여 최적 구조 탐색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1)</a:t>
            </a:r>
            <a:r>
              <a:rPr lang="ko-KR" altLang="en-US" dirty="0"/>
              <a:t>극단적인 클래스 불균형 대응 </a:t>
            </a:r>
            <a:r>
              <a:rPr lang="en-US" altLang="ko-KR" dirty="0"/>
              <a:t>(</a:t>
            </a:r>
            <a:r>
              <a:rPr lang="ko-KR" altLang="en-US" dirty="0" err="1"/>
              <a:t>오분류된</a:t>
            </a:r>
            <a:r>
              <a:rPr lang="ko-KR" altLang="en-US" dirty="0"/>
              <a:t> </a:t>
            </a:r>
            <a:r>
              <a:rPr lang="en-US" altLang="ko-KR" dirty="0"/>
              <a:t>fraud</a:t>
            </a:r>
            <a:r>
              <a:rPr lang="ko-KR" altLang="en-US" dirty="0"/>
              <a:t>에 집중 학습 → 탐지 성능 향상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2) Tabular </a:t>
            </a:r>
            <a:r>
              <a:rPr lang="ko-KR" altLang="en-US" dirty="0"/>
              <a:t>데이터에 최적화 </a:t>
            </a:r>
            <a:r>
              <a:rPr lang="en-US" altLang="ko-KR" dirty="0"/>
              <a:t>(</a:t>
            </a:r>
            <a:r>
              <a:rPr lang="ko-KR" altLang="en-US" dirty="0"/>
              <a:t>비선형 관계 </a:t>
            </a:r>
            <a:r>
              <a:rPr lang="en-US" altLang="ko-KR" dirty="0"/>
              <a:t>+ feature interaction </a:t>
            </a:r>
            <a:r>
              <a:rPr lang="ko-KR" altLang="en-US" dirty="0"/>
              <a:t>자동 학습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3) </a:t>
            </a:r>
            <a:r>
              <a:rPr lang="ko-KR" altLang="en-US" dirty="0" err="1"/>
              <a:t>결측치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/>
              <a:t>범주형 처리에 강함 </a:t>
            </a:r>
            <a:r>
              <a:rPr lang="en-US" altLang="ko-KR" dirty="0"/>
              <a:t>(</a:t>
            </a:r>
            <a:r>
              <a:rPr lang="en-US" altLang="ko-KR" dirty="0" err="1"/>
              <a:t>CatBoost</a:t>
            </a:r>
            <a:r>
              <a:rPr lang="en-US" altLang="ko-KR" dirty="0"/>
              <a:t> → </a:t>
            </a:r>
            <a:r>
              <a:rPr lang="ko-KR" altLang="en-US" dirty="0"/>
              <a:t>범주형 변수 처리에 강점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4)</a:t>
            </a:r>
            <a:r>
              <a:rPr lang="ko-KR" altLang="en-US" dirty="0"/>
              <a:t> 실험적으로 가장 높은 성능 </a:t>
            </a:r>
            <a:r>
              <a:rPr lang="en-US" altLang="ko-KR" dirty="0"/>
              <a:t>(XGB + CAT </a:t>
            </a:r>
            <a:r>
              <a:rPr lang="ko-KR" altLang="en-US" dirty="0"/>
              <a:t>조합이 최고 </a:t>
            </a:r>
            <a:r>
              <a:rPr lang="en-US" altLang="ko-KR" dirty="0"/>
              <a:t>AP </a:t>
            </a:r>
            <a:r>
              <a:rPr lang="ko-KR" altLang="en-US" dirty="0"/>
              <a:t>달성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7FA64E75-EAC3-D8AB-3B03-55A9A9B626F3}"/>
              </a:ext>
            </a:extLst>
          </p:cNvPr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F7346AA9-89E1-D553-1E2E-339B1520AE37}"/>
              </a:ext>
            </a:extLst>
          </p:cNvPr>
          <p:cNvSpPr txBox="1"/>
          <p:nvPr/>
        </p:nvSpPr>
        <p:spPr>
          <a:xfrm>
            <a:off x="1400423" y="616375"/>
            <a:ext cx="574390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ko-KR" altLang="en-US" sz="2800" b="1" dirty="0">
                <a:solidFill>
                  <a:srgbClr val="0D1E4E"/>
                </a:solidFill>
              </a:rPr>
              <a:t>모델 선택 이유 </a:t>
            </a:r>
            <a:endParaRPr sz="2800" b="1" dirty="0">
              <a:solidFill>
                <a:srgbClr val="0D1E4E"/>
              </a:solidFill>
            </a:endParaRPr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6975E14F-7911-2822-0D7F-94B8BE96E446}"/>
              </a:ext>
            </a:extLst>
          </p:cNvPr>
          <p:cNvSpPr txBox="1"/>
          <p:nvPr/>
        </p:nvSpPr>
        <p:spPr>
          <a:xfrm>
            <a:off x="1328857" y="1170343"/>
            <a:ext cx="6819161" cy="46163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 sz="1800" dirty="0">
              <a:solidFill>
                <a:srgbClr val="0D1E4E"/>
              </a:solidFill>
            </a:endParaRPr>
          </a:p>
        </p:txBody>
      </p:sp>
      <p:sp>
        <p:nvSpPr>
          <p:cNvPr id="2" name="Google Shape;108;p15">
            <a:extLst>
              <a:ext uri="{FF2B5EF4-FFF2-40B4-BE49-F238E27FC236}">
                <a16:creationId xmlns:a16="http://schemas.microsoft.com/office/drawing/2014/main" id="{833BFFC6-0E63-9EEA-A0B5-1FC92CD42216}"/>
              </a:ext>
            </a:extLst>
          </p:cNvPr>
          <p:cNvSpPr txBox="1"/>
          <p:nvPr/>
        </p:nvSpPr>
        <p:spPr>
          <a:xfrm>
            <a:off x="1328857" y="1170343"/>
            <a:ext cx="6819161" cy="46163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dirty="0">
                <a:solidFill>
                  <a:srgbClr val="0D1E4E"/>
                </a:solidFill>
              </a:rPr>
              <a:t>Why gradient boosting?</a:t>
            </a:r>
            <a:endParaRPr sz="1800" dirty="0">
              <a:solidFill>
                <a:srgbClr val="0D1E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93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310208A6-6322-EEB0-11B9-47C5E131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>
            <a:extLst>
              <a:ext uri="{FF2B5EF4-FFF2-40B4-BE49-F238E27FC236}">
                <a16:creationId xmlns:a16="http://schemas.microsoft.com/office/drawing/2014/main" id="{AD934FEE-0763-AEE1-EA61-1EE893A307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C2937C56-DE58-48AE-AAA2-6949CF58F4ED}"/>
              </a:ext>
            </a:extLst>
          </p:cNvPr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820F37BB-279C-B7F8-A612-79A485D02BE9}"/>
              </a:ext>
            </a:extLst>
          </p:cNvPr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3808DD12-3E99-6A14-72A5-6C6A0FDC273F}"/>
              </a:ext>
            </a:extLst>
          </p:cNvPr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15">
            <a:extLst>
              <a:ext uri="{FF2B5EF4-FFF2-40B4-BE49-F238E27FC236}">
                <a16:creationId xmlns:a16="http://schemas.microsoft.com/office/drawing/2014/main" id="{2CD707B2-6BF5-7793-96B6-DC3AE8B78D75}"/>
              </a:ext>
            </a:extLst>
          </p:cNvPr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635BCDBB-F07A-C02F-3E33-D55FFE570329}"/>
              </a:ext>
            </a:extLst>
          </p:cNvPr>
          <p:cNvSpPr/>
          <p:nvPr/>
        </p:nvSpPr>
        <p:spPr>
          <a:xfrm>
            <a:off x="1060038" y="354964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endParaRPr lang="en-US" altLang="ko-KR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endParaRPr lang="en-US" altLang="ko-KR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endParaRPr lang="en-US" altLang="ko-KR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 err="1"/>
              <a:t>XGB_shallow</a:t>
            </a:r>
            <a:r>
              <a:rPr lang="ko-KR" altLang="en-US" dirty="0"/>
              <a:t> </a:t>
            </a:r>
            <a:r>
              <a:rPr lang="en-US" altLang="ko-KR" dirty="0"/>
              <a:t>: AP 0.1778</a:t>
            </a:r>
            <a:r>
              <a:rPr lang="ko-KR" altLang="en-US" dirty="0"/>
              <a:t>   </a:t>
            </a:r>
            <a:r>
              <a:rPr lang="en-US" altLang="ko-KR" dirty="0"/>
              <a:t>depth=5 / </a:t>
            </a:r>
            <a:r>
              <a:rPr lang="en-US" altLang="ko-KR" dirty="0" err="1"/>
              <a:t>lr</a:t>
            </a:r>
            <a:r>
              <a:rPr lang="en-US" altLang="ko-KR" dirty="0"/>
              <a:t>= 0.05</a:t>
            </a:r>
          </a:p>
          <a:p>
            <a:pPr>
              <a:lnSpc>
                <a:spcPct val="120000"/>
              </a:lnSpc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데이터의 큰 패턴을 중점적으로 보는 모델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 err="1"/>
              <a:t>XGB_standard</a:t>
            </a:r>
            <a:r>
              <a:rPr lang="en-US" altLang="ko-KR" dirty="0"/>
              <a:t>: AP 0.1786</a:t>
            </a:r>
            <a:endParaRPr lang="ko-KR" altLang="en-US" dirty="0"/>
          </a:p>
          <a:p>
            <a:pPr>
              <a:lnSpc>
                <a:spcPct val="120000"/>
              </a:lnSpc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베이스라인부터 사용해온 가장 안정적인 파라미터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 err="1"/>
              <a:t>XGB_deep</a:t>
            </a:r>
            <a:r>
              <a:rPr lang="en-US" altLang="ko-KR" dirty="0"/>
              <a:t>: AP 0.1762</a:t>
            </a:r>
            <a:endParaRPr lang="ko-KR" altLang="en-US" dirty="0"/>
          </a:p>
          <a:p>
            <a:pPr>
              <a:lnSpc>
                <a:spcPct val="120000"/>
              </a:lnSpc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데이터의 미세한 패턴을 중점적으로 보는 모델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 err="1"/>
              <a:t>XGB_blind</a:t>
            </a:r>
            <a:r>
              <a:rPr lang="en-US" altLang="ko-KR" dirty="0"/>
              <a:t>: AP 0.1787</a:t>
            </a:r>
            <a:endParaRPr lang="ko-KR" altLang="en-US" dirty="0"/>
          </a:p>
          <a:p>
            <a:pPr>
              <a:lnSpc>
                <a:spcPct val="120000"/>
              </a:lnSpc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가장 높은 중요도를 가진 피처 </a:t>
            </a:r>
            <a:r>
              <a:rPr lang="en-US" altLang="ko-KR" dirty="0"/>
              <a:t>2</a:t>
            </a:r>
            <a:r>
              <a:rPr lang="ko-KR" altLang="en-US" dirty="0"/>
              <a:t>개를 제거</a:t>
            </a:r>
            <a:r>
              <a:rPr lang="en-US" altLang="ko-KR" dirty="0"/>
              <a:t>, </a:t>
            </a:r>
            <a:r>
              <a:rPr lang="ko-KR" altLang="en-US" dirty="0"/>
              <a:t>학습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 err="1"/>
              <a:t>CatBoost</a:t>
            </a:r>
            <a:r>
              <a:rPr lang="en-US" altLang="ko-KR" dirty="0"/>
              <a:t>: AP 0.1751</a:t>
            </a:r>
            <a:endParaRPr lang="ko-KR" altLang="en-US" dirty="0"/>
          </a:p>
          <a:p>
            <a:pPr>
              <a:lnSpc>
                <a:spcPct val="120000"/>
              </a:lnSpc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주거형태</a:t>
            </a:r>
            <a:r>
              <a:rPr lang="en-US" altLang="ko-KR" dirty="0"/>
              <a:t>, </a:t>
            </a:r>
            <a:r>
              <a:rPr lang="ko-KR" altLang="en-US" dirty="0"/>
              <a:t>고용상태와 같은 범주형 변수를 처리하는 능력이 강한 모델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 err="1"/>
              <a:t>LightGBM</a:t>
            </a:r>
            <a:r>
              <a:rPr lang="en-US" altLang="ko-KR" dirty="0"/>
              <a:t>: AP 0.1727</a:t>
            </a:r>
            <a:endParaRPr lang="ko-KR" altLang="en-US" dirty="0"/>
          </a:p>
          <a:p>
            <a:pPr>
              <a:lnSpc>
                <a:spcPct val="120000"/>
              </a:lnSpc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대용량 데이터에서도 빠르고 효율적으로 학습되는 </a:t>
            </a:r>
            <a:r>
              <a:rPr lang="ko-KR" altLang="en-US" dirty="0" err="1"/>
              <a:t>부스팅</a:t>
            </a:r>
            <a:r>
              <a:rPr lang="ko-KR" altLang="en-US" dirty="0"/>
              <a:t> 알고리즘</a:t>
            </a:r>
          </a:p>
          <a:p>
            <a:endParaRPr lang="ko-KR" altLang="en-US" dirty="0"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E9335125-29EF-AA6D-F90D-7C766E637FEA}"/>
              </a:ext>
            </a:extLst>
          </p:cNvPr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A95C08F4-786F-7F66-49A0-34AE68BDC6CD}"/>
              </a:ext>
            </a:extLst>
          </p:cNvPr>
          <p:cNvSpPr txBox="1"/>
          <p:nvPr/>
        </p:nvSpPr>
        <p:spPr>
          <a:xfrm>
            <a:off x="1400423" y="616375"/>
            <a:ext cx="574390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2800" b="1">
                <a:solidFill>
                  <a:srgbClr val="0D1E4E"/>
                </a:solidFill>
              </a:defRPr>
            </a:pPr>
            <a:r>
              <a:rPr lang="ko-KR" altLang="en-US" dirty="0"/>
              <a:t>베이스라인 모델</a:t>
            </a:r>
          </a:p>
        </p:txBody>
      </p:sp>
      <p:graphicFrame>
        <p:nvGraphicFramePr>
          <p:cNvPr id="3" name="Chart 8">
            <a:extLst>
              <a:ext uri="{FF2B5EF4-FFF2-40B4-BE49-F238E27FC236}">
                <a16:creationId xmlns:a16="http://schemas.microsoft.com/office/drawing/2014/main" id="{8D7413E8-12E6-F626-3163-4EA40F22C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771131"/>
              </p:ext>
            </p:extLst>
          </p:nvPr>
        </p:nvGraphicFramePr>
        <p:xfrm>
          <a:off x="5138666" y="952075"/>
          <a:ext cx="3383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7188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44004D7F-2A88-4FCF-9506-BD91E281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>
            <a:extLst>
              <a:ext uri="{FF2B5EF4-FFF2-40B4-BE49-F238E27FC236}">
                <a16:creationId xmlns:a16="http://schemas.microsoft.com/office/drawing/2014/main" id="{779EFFAB-C466-EC6C-09C1-164E5DA2AB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EA82268F-67C8-8038-191C-BBA5159A2C48}"/>
              </a:ext>
            </a:extLst>
          </p:cNvPr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EFBC694-338B-589F-4329-B4D8583A1E0F}"/>
              </a:ext>
            </a:extLst>
          </p:cNvPr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B74B3A45-9132-1CFB-80F6-2A863754D5F2}"/>
              </a:ext>
            </a:extLst>
          </p:cNvPr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15">
            <a:extLst>
              <a:ext uri="{FF2B5EF4-FFF2-40B4-BE49-F238E27FC236}">
                <a16:creationId xmlns:a16="http://schemas.microsoft.com/office/drawing/2014/main" id="{48245CC9-5DD2-4752-09BC-115737013403}"/>
              </a:ext>
            </a:extLst>
          </p:cNvPr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9F15CFF6-9457-83A6-B6ED-F733A89D0699}"/>
              </a:ext>
            </a:extLst>
          </p:cNvPr>
          <p:cNvSpPr/>
          <p:nvPr/>
        </p:nvSpPr>
        <p:spPr>
          <a:xfrm>
            <a:off x="1060038" y="354964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단일 모델 성능 한계 → 모델 간 다양성 확보를 위해 앙상블 적용</a:t>
            </a:r>
            <a:endParaRPr lang="en-US" altLang="ko-KR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다양한 모델을 조합한 앙상블 전략으로 성능을 향상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각 모델의 중요도를 가중치로 반영하여 최종 예측을 수행</a:t>
            </a:r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2656548D-36F7-E975-2643-90829B7150B4}"/>
              </a:ext>
            </a:extLst>
          </p:cNvPr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405425EC-523E-DDBB-9CFF-F8004413B873}"/>
              </a:ext>
            </a:extLst>
          </p:cNvPr>
          <p:cNvSpPr txBox="1"/>
          <p:nvPr/>
        </p:nvSpPr>
        <p:spPr>
          <a:xfrm>
            <a:off x="1400423" y="616375"/>
            <a:ext cx="574390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2800" b="1">
                <a:solidFill>
                  <a:srgbClr val="0D1E4E"/>
                </a:solidFill>
              </a:defRPr>
            </a:pPr>
            <a:r>
              <a:rPr lang="ko-KR" altLang="en-US" dirty="0"/>
              <a:t>모델 </a:t>
            </a:r>
            <a:r>
              <a:rPr lang="en-US" altLang="ko-KR" dirty="0"/>
              <a:t>ZOO &amp; </a:t>
            </a:r>
            <a:r>
              <a:rPr lang="ko-KR" altLang="en-US" dirty="0"/>
              <a:t>앙상블</a:t>
            </a:r>
          </a:p>
        </p:txBody>
      </p:sp>
      <p:graphicFrame>
        <p:nvGraphicFramePr>
          <p:cNvPr id="6" name="Chart 8">
            <a:extLst>
              <a:ext uri="{FF2B5EF4-FFF2-40B4-BE49-F238E27FC236}">
                <a16:creationId xmlns:a16="http://schemas.microsoft.com/office/drawing/2014/main" id="{2BE01EA6-FEFF-0DF8-0282-860239197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71807"/>
              </p:ext>
            </p:extLst>
          </p:nvPr>
        </p:nvGraphicFramePr>
        <p:xfrm>
          <a:off x="5308138" y="2426785"/>
          <a:ext cx="2990735" cy="2602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25948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BE376072-F126-80BA-3966-7B99A6A2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>
            <a:extLst>
              <a:ext uri="{FF2B5EF4-FFF2-40B4-BE49-F238E27FC236}">
                <a16:creationId xmlns:a16="http://schemas.microsoft.com/office/drawing/2014/main" id="{EE76726B-7B26-3185-9DC6-0551ACF35A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0A56CA30-1C8B-D93F-8748-D5A7312B692F}"/>
              </a:ext>
            </a:extLst>
          </p:cNvPr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6A18EA52-326E-9D56-8511-8AD07BB6514D}"/>
              </a:ext>
            </a:extLst>
          </p:cNvPr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E3C8EB4E-538D-ADA9-588E-5AAFFDA2EFAF}"/>
              </a:ext>
            </a:extLst>
          </p:cNvPr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15">
            <a:extLst>
              <a:ext uri="{FF2B5EF4-FFF2-40B4-BE49-F238E27FC236}">
                <a16:creationId xmlns:a16="http://schemas.microsoft.com/office/drawing/2014/main" id="{C297B442-1D38-AE81-EA38-2E72DFEEDD1B}"/>
              </a:ext>
            </a:extLst>
          </p:cNvPr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8A20B2BF-4B4F-780C-3933-DA721A73E0D2}"/>
              </a:ext>
            </a:extLst>
          </p:cNvPr>
          <p:cNvSpPr/>
          <p:nvPr/>
        </p:nvSpPr>
        <p:spPr>
          <a:xfrm>
            <a:off x="1060038" y="354964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단일 모델 성능 한계 → 모델 간 다양성 확보를 위해 앙상블 적용</a:t>
            </a:r>
            <a:endParaRPr lang="en-US" altLang="ko-KR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클래스 불균형 조정</a:t>
            </a:r>
            <a:r>
              <a:rPr lang="en-US" altLang="ko-KR" dirty="0"/>
              <a:t>: </a:t>
            </a:r>
            <a:r>
              <a:rPr lang="en-US" altLang="ko-KR" dirty="0" err="1"/>
              <a:t>scale_pos_weight</a:t>
            </a:r>
            <a:r>
              <a:rPr lang="ko-KR" altLang="en-US" dirty="0"/>
              <a:t> 탐색 결과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/>
              <a:t>weight=1</a:t>
            </a:r>
            <a:r>
              <a:rPr lang="ko-KR" altLang="en-US" dirty="0"/>
              <a:t>에서 </a:t>
            </a:r>
            <a:r>
              <a:rPr lang="en-US" altLang="ko-KR" dirty="0"/>
              <a:t>AP 0.1651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/>
              <a:t>Seed averaging: </a:t>
            </a:r>
            <a:r>
              <a:rPr lang="ko-KR" altLang="en-US" dirty="0"/>
              <a:t>여러 </a:t>
            </a:r>
            <a:r>
              <a:rPr lang="ko-KR" altLang="en-US" dirty="0" err="1"/>
              <a:t>시드를</a:t>
            </a:r>
            <a:r>
              <a:rPr lang="ko-KR" altLang="en-US" dirty="0"/>
              <a:t> 평균하여 </a:t>
            </a:r>
            <a:r>
              <a:rPr lang="en-US" altLang="ko-KR" dirty="0" err="1"/>
              <a:t>CatBoost</a:t>
            </a:r>
            <a:r>
              <a:rPr lang="ko-KR" altLang="en-US" dirty="0"/>
              <a:t> 모델 </a:t>
            </a:r>
            <a:r>
              <a:rPr lang="en-US" altLang="ko-KR" dirty="0"/>
              <a:t>AP </a:t>
            </a:r>
            <a:r>
              <a:rPr lang="ko-KR" altLang="en-US" dirty="0"/>
              <a:t>개선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/>
              <a:t>Feature bagging: </a:t>
            </a:r>
            <a:r>
              <a:rPr lang="ko-KR" altLang="en-US" dirty="0"/>
              <a:t>일부 핵심 피처 제거로 모델 다양성 확보</a:t>
            </a:r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3291F41F-3B06-6186-E853-23ABF64556EB}"/>
              </a:ext>
            </a:extLst>
          </p:cNvPr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3DD17E65-7002-11CA-26F8-A56F559D569C}"/>
              </a:ext>
            </a:extLst>
          </p:cNvPr>
          <p:cNvSpPr txBox="1"/>
          <p:nvPr/>
        </p:nvSpPr>
        <p:spPr>
          <a:xfrm>
            <a:off x="1400423" y="616375"/>
            <a:ext cx="574390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2800" b="1">
                <a:solidFill>
                  <a:srgbClr val="0D1E4E"/>
                </a:solidFill>
              </a:defRPr>
            </a:pPr>
            <a:r>
              <a:rPr lang="ko-KR" altLang="en-US" dirty="0"/>
              <a:t>핵심 개선 사항</a:t>
            </a:r>
          </a:p>
        </p:txBody>
      </p:sp>
      <p:graphicFrame>
        <p:nvGraphicFramePr>
          <p:cNvPr id="2" name="Chart 8">
            <a:extLst>
              <a:ext uri="{FF2B5EF4-FFF2-40B4-BE49-F238E27FC236}">
                <a16:creationId xmlns:a16="http://schemas.microsoft.com/office/drawing/2014/main" id="{13690012-D91C-5FDA-3C09-066BB1792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366336"/>
              </p:ext>
            </p:extLst>
          </p:nvPr>
        </p:nvGraphicFramePr>
        <p:xfrm>
          <a:off x="6017491" y="2927926"/>
          <a:ext cx="2463046" cy="2082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36472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F5BA0FE6-8503-8A64-948C-F027B94F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>
            <a:extLst>
              <a:ext uri="{FF2B5EF4-FFF2-40B4-BE49-F238E27FC236}">
                <a16:creationId xmlns:a16="http://schemas.microsoft.com/office/drawing/2014/main" id="{7B4E8BAD-619E-BED2-FE13-A14D89F83B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3E03277C-7E97-A5A4-9950-639F693FFF55}"/>
              </a:ext>
            </a:extLst>
          </p:cNvPr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84B787C5-6B46-B54A-B49F-9DF26C805F4A}"/>
              </a:ext>
            </a:extLst>
          </p:cNvPr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8FEC0214-5C5A-905A-3258-186341A58A7F}"/>
              </a:ext>
            </a:extLst>
          </p:cNvPr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15">
            <a:extLst>
              <a:ext uri="{FF2B5EF4-FFF2-40B4-BE49-F238E27FC236}">
                <a16:creationId xmlns:a16="http://schemas.microsoft.com/office/drawing/2014/main" id="{503ADEF4-B75B-FEEE-AB36-2951A7F5EDB6}"/>
              </a:ext>
            </a:extLst>
          </p:cNvPr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1A7F3F35-19A9-6B1E-2907-8651596ED982}"/>
              </a:ext>
            </a:extLst>
          </p:cNvPr>
          <p:cNvSpPr/>
          <p:nvPr/>
        </p:nvSpPr>
        <p:spPr>
          <a:xfrm>
            <a:off x="1060038" y="354964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최고 단일 모델</a:t>
            </a:r>
            <a:r>
              <a:rPr lang="en-US" altLang="ko-KR" dirty="0"/>
              <a:t>: </a:t>
            </a:r>
            <a:r>
              <a:rPr lang="en-US" altLang="ko-KR" dirty="0" err="1"/>
              <a:t>XGB_blind</a:t>
            </a:r>
            <a:r>
              <a:rPr lang="en-US" altLang="ko-KR" dirty="0"/>
              <a:t> (AP 0.1787)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/>
              <a:t>Zoo Weighted Avg: AP 0.17977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/>
              <a:t>Zoo Rank Avg: AP 0.17963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ko-KR" altLang="en-US" dirty="0"/>
              <a:t>최종 </a:t>
            </a:r>
            <a:r>
              <a:rPr lang="ko-KR" altLang="en-US" dirty="0" err="1"/>
              <a:t>블렌딩</a:t>
            </a:r>
            <a:r>
              <a:rPr lang="ko-KR" altLang="en-US" dirty="0"/>
              <a:t> </a:t>
            </a:r>
            <a:r>
              <a:rPr lang="en-US" altLang="ko-KR" dirty="0"/>
              <a:t>(v13+v8): AP 0.18170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0D1E4E"/>
                </a:solidFill>
              </a:defRPr>
            </a:pPr>
            <a:r>
              <a:rPr lang="en-US" altLang="ko-KR" dirty="0"/>
              <a:t>Baseline </a:t>
            </a:r>
            <a:r>
              <a:rPr lang="ko-KR" altLang="en-US" dirty="0"/>
              <a:t>대비 </a:t>
            </a:r>
            <a:r>
              <a:rPr lang="en-US" altLang="ko-KR" dirty="0"/>
              <a:t>+0.003 AP </a:t>
            </a:r>
            <a:r>
              <a:rPr lang="ko-KR" altLang="en-US" dirty="0"/>
              <a:t>향상</a:t>
            </a:r>
            <a:endParaRPr lang="en-US" altLang="ko-KR" dirty="0"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949F9DEB-FD82-C247-35C2-5D8709131F3C}"/>
              </a:ext>
            </a:extLst>
          </p:cNvPr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8BA6DD04-E65B-91C3-7EC4-53AB0049E442}"/>
              </a:ext>
            </a:extLst>
          </p:cNvPr>
          <p:cNvSpPr txBox="1"/>
          <p:nvPr/>
        </p:nvSpPr>
        <p:spPr>
          <a:xfrm>
            <a:off x="1400423" y="616375"/>
            <a:ext cx="574390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2800" b="1">
                <a:solidFill>
                  <a:srgbClr val="0D1E4E"/>
                </a:solidFill>
              </a:defRPr>
            </a:pPr>
            <a:r>
              <a:rPr lang="ko-KR" altLang="en-US" dirty="0"/>
              <a:t>최종 결과 </a:t>
            </a:r>
            <a:r>
              <a:rPr lang="en-US" altLang="ko-KR" dirty="0"/>
              <a:t>&amp; </a:t>
            </a:r>
            <a:r>
              <a:rPr lang="ko-KR" altLang="en-US" dirty="0"/>
              <a:t>제출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181479"/>
              </p:ext>
            </p:extLst>
          </p:nvPr>
        </p:nvGraphicFramePr>
        <p:xfrm>
          <a:off x="4878647" y="1862456"/>
          <a:ext cx="3383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74357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5AFB1804-6325-FA66-89EA-66640097F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>
            <a:extLst>
              <a:ext uri="{FF2B5EF4-FFF2-40B4-BE49-F238E27FC236}">
                <a16:creationId xmlns:a16="http://schemas.microsoft.com/office/drawing/2014/main" id="{464868E0-1CDE-721A-3DD3-89EF8F77623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B2270328-56F3-2238-409B-4A8EDE6F16A9}"/>
              </a:ext>
            </a:extLst>
          </p:cNvPr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626BB18-85DA-CCEF-3B24-CAD6487EC5BD}"/>
              </a:ext>
            </a:extLst>
          </p:cNvPr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6DB53F32-9521-4CCE-66E8-B96C9D75A63C}"/>
              </a:ext>
            </a:extLst>
          </p:cNvPr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Google Shape;104;p15">
            <a:extLst>
              <a:ext uri="{FF2B5EF4-FFF2-40B4-BE49-F238E27FC236}">
                <a16:creationId xmlns:a16="http://schemas.microsoft.com/office/drawing/2014/main" id="{FC37BE88-E39F-9C44-0727-25FCB9CAE210}"/>
              </a:ext>
            </a:extLst>
          </p:cNvPr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F8217894-0B56-3A04-EA20-D5436E06BD34}"/>
              </a:ext>
            </a:extLst>
          </p:cNvPr>
          <p:cNvSpPr/>
          <p:nvPr/>
        </p:nvSpPr>
        <p:spPr>
          <a:xfrm>
            <a:off x="1060038" y="354964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600">
                <a:solidFill>
                  <a:srgbClr val="0D1E4E"/>
                </a:solidFill>
              </a:defRPr>
            </a:pPr>
            <a:r>
              <a:rPr lang="en-US" altLang="ko-KR" dirty="0"/>
              <a:t>Gradient Boosting</a:t>
            </a:r>
            <a:r>
              <a:rPr lang="ko-KR" altLang="en-US" dirty="0"/>
              <a:t>이 </a:t>
            </a:r>
            <a:r>
              <a:rPr lang="en-US" altLang="ko-KR" dirty="0"/>
              <a:t>Tabular + Imbalance </a:t>
            </a:r>
            <a:r>
              <a:rPr lang="ko-KR" altLang="en-US" dirty="0"/>
              <a:t>문제에서 가장 효과적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600">
                <a:solidFill>
                  <a:srgbClr val="0D1E4E"/>
                </a:solidFill>
              </a:defRPr>
            </a:pPr>
            <a:r>
              <a:rPr lang="en-US" altLang="ko-KR" dirty="0"/>
              <a:t>Feature engineering</a:t>
            </a:r>
            <a:r>
              <a:rPr lang="ko-KR" altLang="en-US" dirty="0"/>
              <a:t>보다 모델 조합</a:t>
            </a:r>
            <a:r>
              <a:rPr lang="en-US" altLang="ko-KR" dirty="0"/>
              <a:t>(</a:t>
            </a:r>
            <a:r>
              <a:rPr lang="ko-KR" altLang="en-US" dirty="0"/>
              <a:t>앙상블</a:t>
            </a:r>
            <a:r>
              <a:rPr lang="en-US" altLang="ko-KR" dirty="0"/>
              <a:t>)</a:t>
            </a:r>
            <a:r>
              <a:rPr lang="ko-KR" altLang="en-US" dirty="0"/>
              <a:t>이 더 큰 성능 향상</a:t>
            </a:r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4018C064-96DE-1E96-04BE-03221EB22BC7}"/>
              </a:ext>
            </a:extLst>
          </p:cNvPr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74E9871E-EE9E-A4FC-7AD0-952E00560D09}"/>
              </a:ext>
            </a:extLst>
          </p:cNvPr>
          <p:cNvSpPr txBox="1"/>
          <p:nvPr/>
        </p:nvSpPr>
        <p:spPr>
          <a:xfrm>
            <a:off x="1400423" y="616375"/>
            <a:ext cx="574390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2800" b="1">
                <a:solidFill>
                  <a:srgbClr val="0D1E4E"/>
                </a:solidFill>
              </a:defRPr>
            </a:pPr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592153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769</Words>
  <Application>Microsoft Office PowerPoint</Application>
  <PresentationFormat>화면 슬라이드 쇼(16:9)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Nanum Gothic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양희원</cp:lastModifiedBy>
  <cp:revision>10</cp:revision>
  <dcterms:modified xsi:type="dcterms:W3CDTF">2026-03-31T10:00:00Z</dcterms:modified>
</cp:coreProperties>
</file>